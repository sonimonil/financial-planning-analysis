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5A6472"/>
                </a:solidFill>
                <a:latin typeface="Calibri"/>
              </a:defRPr>
            </a:pPr>
            <a:r>
              <a:rPr sz="1200" b="0" i="0" u="none" strike="noStrike">
                <a:solidFill>
                  <a:srgbClr val="5A6472"/>
                </a:solidFill>
                <a:latin typeface="Calibri"/>
              </a:rPr>
              <a:t>Net sales by segment ($M)</a:t>
            </a:r>
          </a:p>
        </c:rich>
      </c:tx>
      <c:layout/>
      <c:overlay val="0"/>
    </c:title>
    <c:autoTitleDeleted val="0"/>
    <c:plotArea>
      <c:layout/>
      <c:barChart>
        <c:barDir val="bar"/>
        <c:grouping val="clustered"/>
        <c:varyColors val="0"/>
        <c:ser>
          <c:idx val="0"/>
          <c:order val="0"/>
          <c:tx>
            <c:strRef>
              <c:f>Sheet1!$B$1</c:f>
              <c:strCache>
                <c:ptCount val="1"/>
                <c:pt idx="0">
                  <c:v>Net Sales ($M)</c:v>
                </c:pt>
              </c:strCache>
            </c:strRef>
          </c:tx>
          <c:spPr>
            <a:solidFill>
              <a:srgbClr val="1E2761"/>
            </a:solidFill>
            <a:effectLst/>
          </c:spPr>
          <c:invertIfNegative val="0"/>
          <c:dLbls>
            <c:numFmt formatCode="$#,0.0&quot;M&quot;"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3C5BA9"/>
              </a:solidFill>
              <a:effectLst/>
            </c:spPr>
          </c:dPt>
          <c:dPt>
            <c:idx val="2"/>
            <c:invertIfNegative val="0"/>
            <c:bubble3D val="0"/>
            <c:spPr>
              <a:solidFill>
                <a:srgbClr val="E8A33D"/>
              </a:solidFill>
              <a:effectLst/>
            </c:spPr>
          </c:dPt>
          <c:dPt>
            <c:idx val="3"/>
            <c:invertIfNegative val="0"/>
            <c:bubble3D val="0"/>
            <c:spPr>
              <a:solidFill>
                <a:srgbClr val="CADCFC"/>
              </a:solidFill>
              <a:effectLst/>
            </c:spPr>
          </c:dPt>
          <c:dPt>
            <c:idx val="4"/>
            <c:invertIfNegative val="0"/>
            <c:bubble3D val="0"/>
            <c:spPr>
              <a:solidFill>
                <a:srgbClr val="00A896"/>
              </a:solidFill>
              <a:effectLst/>
            </c:spPr>
          </c:dPt>
          <c:cat>
            <c:multiLvlStrRef>
              <c:f>Sheet1!$A$2:$A$6</c:f>
              <c:multiLvlStrCache>
                <c:ptCount val="5"/>
                <c:lvl>
                  <c:pt idx="0">
                    <c:v>Government</c:v>
                  </c:pt>
                  <c:pt idx="1">
                    <c:v>Small Business</c:v>
                  </c:pt>
                  <c:pt idx="2">
                    <c:v>Enterprise</c:v>
                  </c:pt>
                  <c:pt idx="3">
                    <c:v>Midmarket</c:v>
                  </c:pt>
                  <c:pt idx="4">
                    <c:v>Channel Partners</c:v>
                  </c:pt>
                </c:lvl>
              </c:multiLvlStrCache>
            </c:multiLvlStrRef>
          </c:cat>
          <c:val>
            <c:numRef>
              <c:f>Sheet1!$B$2:$B$6</c:f>
              <c:numCache>
                <c:formatCode>General</c:formatCode>
                <c:ptCount val="5"/>
                <c:pt idx="0">
                  <c:v>52.5</c:v>
                </c:pt>
                <c:pt idx="1">
                  <c:v>42.43</c:v>
                </c:pt>
                <c:pt idx="2">
                  <c:v>19.61</c:v>
                </c:pt>
                <c:pt idx="3">
                  <c:v>2.38</c:v>
                </c:pt>
                <c:pt idx="4">
                  <c:v>1.8</c:v>
                </c:pt>
              </c:numCache>
            </c:numRef>
          </c:val>
        </c:ser>
        <c:dLbls>
          <c:numFmt formatCode="$#,0.0&quot;M&quot;" sourceLinked="0"/>
          <c:txPr>
            <a:bodyPr/>
            <a:lstStyle/>
            <a:p>
              <a:pPr>
                <a:defRPr b="0" i="0" strike="noStrike" sz="1100" u="none">
                  <a:solidFill>
                    <a:srgbClr val="1E276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E6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5A6472"/>
                </a:solidFill>
                <a:latin typeface="Calibri"/>
              </a:defRPr>
            </a:pPr>
            <a:r>
              <a:rPr sz="1200" b="0" i="0" u="none" strike="noStrike">
                <a:solidFill>
                  <a:srgbClr val="5A6472"/>
                </a:solidFill>
                <a:latin typeface="Calibri"/>
              </a:rPr>
              <a:t>Profit margin by discount band</a:t>
            </a:r>
          </a:p>
        </c:rich>
      </c:tx>
      <c:layout/>
      <c:overlay val="0"/>
    </c:title>
    <c:autoTitleDeleted val="0"/>
    <c:plotArea>
      <c:layout/>
      <c:barChart>
        <c:barDir val="col"/>
        <c:grouping val="clustered"/>
        <c:varyColors val="0"/>
        <c:ser>
          <c:idx val="0"/>
          <c:order val="0"/>
          <c:tx>
            <c:strRef>
              <c:f>Sheet1!$B$1</c:f>
              <c:strCache>
                <c:ptCount val="1"/>
                <c:pt idx="0">
                  <c:v>Profit margin %</c:v>
                </c:pt>
              </c:strCache>
            </c:strRef>
          </c:tx>
          <c:spPr>
            <a:solidFill>
              <a:srgbClr val="00A896"/>
            </a:solidFill>
            <a:effectLst/>
          </c:spPr>
          <c:invertIfNegative val="0"/>
          <c:dLbls>
            <c:numFmt formatCode="0.0&quot;%&quot;"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dPt>
            <c:idx val="0"/>
            <c:invertIfNegative val="0"/>
            <c:bubble3D val="0"/>
            <c:spPr>
              <a:solidFill>
                <a:srgbClr val="00A896"/>
              </a:solidFill>
              <a:effectLst/>
            </c:spPr>
          </c:dPt>
          <c:dPt>
            <c:idx val="1"/>
            <c:invertIfNegative val="0"/>
            <c:bubble3D val="0"/>
            <c:spPr>
              <a:solidFill>
                <a:srgbClr val="3C5BA9"/>
              </a:solidFill>
              <a:effectLst/>
            </c:spPr>
          </c:dPt>
          <c:dPt>
            <c:idx val="2"/>
            <c:invertIfNegative val="0"/>
            <c:bubble3D val="0"/>
            <c:spPr>
              <a:solidFill>
                <a:srgbClr val="E8A33D"/>
              </a:solidFill>
              <a:effectLst/>
            </c:spPr>
          </c:dPt>
          <c:dPt>
            <c:idx val="3"/>
            <c:invertIfNegative val="0"/>
            <c:bubble3D val="0"/>
            <c:spPr>
              <a:solidFill>
                <a:srgbClr val="C0392B"/>
              </a:solidFill>
              <a:effectLst/>
            </c:spPr>
          </c:dPt>
          <c:cat>
            <c:multiLvlStrRef>
              <c:f>Sheet1!$A$2:$A$5</c:f>
              <c:multiLvlStrCache>
                <c:ptCount val="4"/>
                <c:lvl>
                  <c:pt idx="0">
                    <c:v>None</c:v>
                  </c:pt>
                  <c:pt idx="1">
                    <c:v>Low</c:v>
                  </c:pt>
                  <c:pt idx="2">
                    <c:v>Medium</c:v>
                  </c:pt>
                  <c:pt idx="3">
                    <c:v>High</c:v>
                  </c:pt>
                </c:lvl>
              </c:multiLvlStrCache>
            </c:multiLvlStrRef>
          </c:cat>
          <c:val>
            <c:numRef>
              <c:f>Sheet1!$B$2:$B$5</c:f>
              <c:numCache>
                <c:formatCode>General</c:formatCode>
                <c:ptCount val="4"/>
                <c:pt idx="0">
                  <c:v>21.9</c:v>
                </c:pt>
                <c:pt idx="1">
                  <c:v>17.9</c:v>
                </c:pt>
                <c:pt idx="2">
                  <c:v>14.4</c:v>
                </c:pt>
                <c:pt idx="3">
                  <c:v>9.1</c:v>
                </c:pt>
              </c:numCache>
            </c:numRef>
          </c:val>
        </c:ser>
        <c:dLbls>
          <c:numFmt formatCode="0.0&quot;%&quot;" sourceLinked="0"/>
          <c:txPr>
            <a:bodyPr/>
            <a:lstStyle/>
            <a:p>
              <a:pPr>
                <a:defRPr b="0" i="0" strike="noStrike" sz="1200" u="none">
                  <a:solidFill>
                    <a:srgbClr val="1E276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12700" cap="flat">
              <a:solidFill>
                <a:srgbClr val="E6E9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Net Sales ($M)</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Sheet1!$A$2:$A$17</c:f>
              <c:multiLvlStrCache>
                <c:ptCount val="16"/>
                <c:lvl>
                  <c:pt idx="0">
                    <c:v>Sep 13</c:v>
                  </c:pt>
                  <c:pt idx="1">
                    <c:v>Oct 13</c:v>
                  </c:pt>
                  <c:pt idx="2">
                    <c:v>Nov 13</c:v>
                  </c:pt>
                  <c:pt idx="3">
                    <c:v>Dec 13</c:v>
                  </c:pt>
                  <c:pt idx="4">
                    <c:v>Jan 14</c:v>
                  </c:pt>
                  <c:pt idx="5">
                    <c:v>Feb 14</c:v>
                  </c:pt>
                  <c:pt idx="6">
                    <c:v>Mar 14</c:v>
                  </c:pt>
                  <c:pt idx="7">
                    <c:v>Apr 14</c:v>
                  </c:pt>
                  <c:pt idx="8">
                    <c:v>May 14</c:v>
                  </c:pt>
                  <c:pt idx="9">
                    <c:v>Jun 14</c:v>
                  </c:pt>
                  <c:pt idx="10">
                    <c:v>Jul 14</c:v>
                  </c:pt>
                  <c:pt idx="11">
                    <c:v>Aug 14</c:v>
                  </c:pt>
                  <c:pt idx="12">
                    <c:v>Sep 14</c:v>
                  </c:pt>
                  <c:pt idx="13">
                    <c:v>Oct 14</c:v>
                  </c:pt>
                  <c:pt idx="14">
                    <c:v>Nov 14</c:v>
                  </c:pt>
                  <c:pt idx="15">
                    <c:v>Dec 14</c:v>
                  </c:pt>
                </c:lvl>
              </c:multiLvlStrCache>
            </c:multiLvlStrRef>
          </c:cat>
          <c:val>
            <c:numRef>
              <c:f>Sheet1!$B$2:$B$17</c:f>
              <c:numCache>
                <c:formatCode>General</c:formatCode>
                <c:ptCount val="16"/>
                <c:pt idx="0">
                  <c:v>4.48</c:v>
                </c:pt>
                <c:pt idx="1">
                  <c:v>9.3</c:v>
                </c:pt>
                <c:pt idx="2">
                  <c:v>7.27</c:v>
                </c:pt>
                <c:pt idx="3">
                  <c:v>5.37</c:v>
                </c:pt>
                <c:pt idx="4">
                  <c:v>6.61</c:v>
                </c:pt>
                <c:pt idx="5">
                  <c:v>7.3</c:v>
                </c:pt>
                <c:pt idx="6">
                  <c:v>5.59</c:v>
                </c:pt>
                <c:pt idx="7">
                  <c:v>6.96</c:v>
                </c:pt>
                <c:pt idx="8">
                  <c:v>6.21</c:v>
                </c:pt>
                <c:pt idx="9">
                  <c:v>9.52</c:v>
                </c:pt>
                <c:pt idx="10">
                  <c:v>8.1</c:v>
                </c:pt>
                <c:pt idx="11">
                  <c:v>5.86</c:v>
                </c:pt>
                <c:pt idx="12">
                  <c:v>6.4</c:v>
                </c:pt>
                <c:pt idx="13">
                  <c:v>12.38</c:v>
                </c:pt>
                <c:pt idx="14">
                  <c:v>5.38</c:v>
                </c:pt>
                <c:pt idx="15">
                  <c:v>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Profit ($M)</c:v>
                </c:pt>
              </c:strCache>
            </c:strRef>
          </c:tx>
          <c:spPr>
            <a:solidFill>
              <a:srgbClr val="00A896"/>
            </a:solidFill>
            <a:ln w="38100" cap="flat">
              <a:solidFill>
                <a:srgbClr val="00A8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A896"/>
              </a:solidFill>
              <a:ln w="9525" cap="flat">
                <a:solidFill>
                  <a:srgbClr val="00A896"/>
                </a:solidFill>
                <a:prstDash val="solid"/>
                <a:round/>
              </a:ln>
              <a:effectLst/>
            </c:spPr>
          </c:marker>
          <c:cat>
            <c:multiLvlStrRef>
              <c:f>Sheet1!$A$2:$A$17</c:f>
              <c:multiLvlStrCache>
                <c:ptCount val="16"/>
                <c:lvl>
                  <c:pt idx="0">
                    <c:v>Sep 13</c:v>
                  </c:pt>
                  <c:pt idx="1">
                    <c:v>Oct 13</c:v>
                  </c:pt>
                  <c:pt idx="2">
                    <c:v>Nov 13</c:v>
                  </c:pt>
                  <c:pt idx="3">
                    <c:v>Dec 13</c:v>
                  </c:pt>
                  <c:pt idx="4">
                    <c:v>Jan 14</c:v>
                  </c:pt>
                  <c:pt idx="5">
                    <c:v>Feb 14</c:v>
                  </c:pt>
                  <c:pt idx="6">
                    <c:v>Mar 14</c:v>
                  </c:pt>
                  <c:pt idx="7">
                    <c:v>Apr 14</c:v>
                  </c:pt>
                  <c:pt idx="8">
                    <c:v>May 14</c:v>
                  </c:pt>
                  <c:pt idx="9">
                    <c:v>Jun 14</c:v>
                  </c:pt>
                  <c:pt idx="10">
                    <c:v>Jul 14</c:v>
                  </c:pt>
                  <c:pt idx="11">
                    <c:v>Aug 14</c:v>
                  </c:pt>
                  <c:pt idx="12">
                    <c:v>Sep 14</c:v>
                  </c:pt>
                  <c:pt idx="13">
                    <c:v>Oct 14</c:v>
                  </c:pt>
                  <c:pt idx="14">
                    <c:v>Nov 14</c:v>
                  </c:pt>
                  <c:pt idx="15">
                    <c:v>Dec 14</c:v>
                  </c:pt>
                </c:lvl>
              </c:multiLvlStrCache>
            </c:multiLvlStrRef>
          </c:cat>
          <c:val>
            <c:numRef>
              <c:f>Sheet1!$C$2:$C$17</c:f>
              <c:numCache>
                <c:formatCode>General</c:formatCode>
                <c:ptCount val="16"/>
                <c:pt idx="0">
                  <c:v>0.76</c:v>
                </c:pt>
                <c:pt idx="1">
                  <c:v>1.66</c:v>
                </c:pt>
                <c:pt idx="2">
                  <c:v>0.77</c:v>
                </c:pt>
                <c:pt idx="3">
                  <c:v>0.69</c:v>
                </c:pt>
                <c:pt idx="4">
                  <c:v>0.81</c:v>
                </c:pt>
                <c:pt idx="5">
                  <c:v>1.15</c:v>
                </c:pt>
                <c:pt idx="6">
                  <c:v>0.67</c:v>
                </c:pt>
                <c:pt idx="7">
                  <c:v>0.93</c:v>
                </c:pt>
                <c:pt idx="8">
                  <c:v>0.83</c:v>
                </c:pt>
                <c:pt idx="9">
                  <c:v>1.47</c:v>
                </c:pt>
                <c:pt idx="10">
                  <c:v>0.92</c:v>
                </c:pt>
                <c:pt idx="11">
                  <c:v>0.79</c:v>
                </c:pt>
                <c:pt idx="12">
                  <c:v>1.02</c:v>
                </c:pt>
                <c:pt idx="13">
                  <c:v>1.78</c:v>
                </c:pt>
                <c:pt idx="14">
                  <c:v>0.6</c:v>
                </c:pt>
                <c:pt idx="15">
                  <c:v>2.03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761"/>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9F0"/>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76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takes Microsoft's Financial Sample dataset and builds a full FP&amp;A reporting model in Power BI. 700 records, 16 months, $118.7M in net sales. The headline is a 14.2% profit margin, but the value is in what sits underneath that number - one segment is selling below cost, and discounting is costing roughly 13 margin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report around questions rather than around available columns is what keeps it from becoming a chart gallery. Each of the four report pages maps back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quality panel is the part worth dwelling on in a portfolio context. Anyone can load a clean sample file. Catching that the 53 blank discount bands are genuine zeroes - and that leaving them blank would drop the highest-margin group out of every discount visual - is the actual analyst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gross to profit is the single most useful framing in FP&amp;A because it shows exactly where value is lost. Two leaks: $9.2M in discounts and $101.8M in COGS. The COGS ratio of 85.8% is the average - the next slides show it is not evenly 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ordering on this chart against the margin figures. Enterprise is third by revenue and would pass any revenue-only review. The pairing of revenue with margin on every visual is a deliberate design rule, not a stylistic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actionable finding in the dataset. The COGS Ratio % measure is what surfaced it - dividing total COGS by net sales per segment. On a revenue chart Enterprise is a solid third-place performer. The important nuance for the recommendation: because the unit economics are negative, growing this segment increases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relationship is close to linear: each step deeper into discounting costs roughly four margin points. The distribution is the real problem - 245 of 700 orders sit in the High band, more than any other. That pattern says discounting is a default sales behaviour rather than a deliberate concession, which is a process fix rather than a pricing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+249% figure is the kind of number that gets into a board deck and stays there. The report labels the comparison on the page itself so a reader cannot draw the wrong conclusion from the visual alone. Profit growing faster than revenue - 40.1% against 36.9% - is the genuinely encouraging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point out on this chart. Nov 2013 is the clearest example of why revenue and profit need to be read together - $7.27M of sales returned only $0.77M of profit, a much thinner month than the revenue line suggests. And the Oct and Dec 2014 spikes are the pull-forward question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settings on the Date table are easy to skip and cause visible bugs: marking it as a date table, without which SAMEPERIODLASTYEAR returns wrong results rather than errors, and sorting Month Name by Month Number, without which every axis reads April, August,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explicit about confidence levels here. The discount recommendation follows arithmetically from the band margins. The Enterprise repricing depends on whether the 103% COGS ratio reflects genuine cost or an allocation artefact - that needs checking against the source system. Channel Partners is the most speculative: excellent margin, but 1.5% of revenue is a small base to extrapolate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point for a portfolio audience: the reproducibility script is the differentiator. Most dashboard projects ask you to take the numbers on trust. This one ships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8138160" y="1874520"/>
            <a:ext cx="3108960" cy="3108960"/>
          </a:xfrm>
          <a:prstGeom prst="ellipse">
            <a:avLst/>
          </a:prstGeom>
          <a:solidFill>
            <a:srgbClr val="1E2761">
              <a:alpha val="28000"/>
            </a:srgbClr>
          </a:solidFill>
          <a:ln/>
        </p:spPr>
      </p:sp>
      <p:sp>
        <p:nvSpPr>
          <p:cNvPr id="3" name="Shape 1"/>
          <p:cNvSpPr/>
          <p:nvPr/>
        </p:nvSpPr>
        <p:spPr>
          <a:xfrm>
            <a:off x="8549640" y="2286000"/>
            <a:ext cx="2286000" cy="2286000"/>
          </a:xfrm>
          <a:prstGeom prst="ellipse">
            <a:avLst/>
          </a:prstGeom>
          <a:solidFill>
            <a:srgbClr val="1E2761">
              <a:alpha val="28000"/>
            </a:srgbClr>
          </a:solidFill>
          <a:ln/>
        </p:spPr>
      </p:sp>
      <p:sp>
        <p:nvSpPr>
          <p:cNvPr id="4" name="Shape 2"/>
          <p:cNvSpPr/>
          <p:nvPr/>
        </p:nvSpPr>
        <p:spPr>
          <a:xfrm>
            <a:off x="8961120" y="2697480"/>
            <a:ext cx="1463040" cy="1463040"/>
          </a:xfrm>
          <a:prstGeom prst="ellipse">
            <a:avLst/>
          </a:prstGeom>
          <a:solidFill>
            <a:srgbClr val="1E2761">
              <a:alpha val="55000"/>
            </a:srgbClr>
          </a:solidFill>
          <a:ln/>
        </p:spPr>
      </p:sp>
      <p:sp>
        <p:nvSpPr>
          <p:cNvPr id="5" name="Text 3"/>
          <p:cNvSpPr/>
          <p:nvPr/>
        </p:nvSpPr>
        <p:spPr>
          <a:xfrm>
            <a:off x="8595360" y="3127248"/>
            <a:ext cx="2194560" cy="603504"/>
          </a:xfrm>
          <a:prstGeom prst="rect">
            <a:avLst/>
          </a:prstGeom>
          <a:noFill/>
          <a:ln/>
        </p:spPr>
        <p:txBody>
          <a:bodyPr wrap="square" lIns="0" tIns="0" rIns="0" bIns="0" rtlCol="0" anchor="ctr"/>
          <a:lstStyle/>
          <a:p>
            <a:pPr algn="ctr" indent="0" marL="0">
              <a:buNone/>
            </a:pPr>
            <a:r>
              <a:rPr lang="en-US" sz="3000" b="1" dirty="0">
                <a:solidFill>
                  <a:srgbClr val="CADCFC"/>
                </a:solidFill>
                <a:latin typeface="Cambria" pitchFamily="34" charset="0"/>
                <a:ea typeface="Cambria" pitchFamily="34" charset="-122"/>
                <a:cs typeface="Cambria" pitchFamily="34" charset="-120"/>
              </a:rPr>
              <a:t>14.2%</a:t>
            </a:r>
            <a:endParaRPr lang="en-US" sz="3000" dirty="0"/>
          </a:p>
        </p:txBody>
      </p:sp>
      <p:sp>
        <p:nvSpPr>
          <p:cNvPr id="6" name="Text 4"/>
          <p:cNvSpPr/>
          <p:nvPr/>
        </p:nvSpPr>
        <p:spPr>
          <a:xfrm>
            <a:off x="8595360" y="3675888"/>
            <a:ext cx="2194560" cy="237744"/>
          </a:xfrm>
          <a:prstGeom prst="rect">
            <a:avLst/>
          </a:prstGeom>
          <a:noFill/>
          <a:ln/>
        </p:spPr>
        <p:txBody>
          <a:bodyPr wrap="square" lIns="0" tIns="0" rIns="0" bIns="0" rtlCol="0" anchor="ctr"/>
          <a:lstStyle/>
          <a:p>
            <a:pPr algn="ctr" indent="0" marL="0">
              <a:buNone/>
            </a:pPr>
            <a:r>
              <a:rPr lang="en-US" sz="1100" dirty="0">
                <a:solidFill>
                  <a:srgbClr val="9AA3B2"/>
                </a:solidFill>
                <a:latin typeface="Calibri" pitchFamily="34" charset="0"/>
                <a:ea typeface="Calibri" pitchFamily="34" charset="-122"/>
                <a:cs typeface="Calibri" pitchFamily="34" charset="-120"/>
              </a:rPr>
              <a:t>profit margin</a:t>
            </a:r>
            <a:endParaRPr lang="en-US" sz="1100" dirty="0"/>
          </a:p>
        </p:txBody>
      </p:sp>
      <p:sp>
        <p:nvSpPr>
          <p:cNvPr id="7" name="Text 5"/>
          <p:cNvSpPr/>
          <p:nvPr/>
        </p:nvSpPr>
        <p:spPr>
          <a:xfrm>
            <a:off x="566928" y="1572768"/>
            <a:ext cx="7680960" cy="274320"/>
          </a:xfrm>
          <a:prstGeom prst="rect">
            <a:avLst/>
          </a:prstGeom>
          <a:noFill/>
          <a:ln/>
        </p:spPr>
        <p:txBody>
          <a:bodyPr wrap="square" lIns="0" tIns="0" rIns="0" bIns="0" rtlCol="0" anchor="ctr"/>
          <a:lstStyle/>
          <a:p>
            <a:pPr indent="0" marL="0">
              <a:buNone/>
            </a:pPr>
            <a:r>
              <a:rPr lang="en-US" sz="1300" b="1" spc="300" kern="0" dirty="0">
                <a:solidFill>
                  <a:srgbClr val="00A896"/>
                </a:solidFill>
                <a:latin typeface="Calibri" pitchFamily="34" charset="0"/>
                <a:ea typeface="Calibri" pitchFamily="34" charset="-122"/>
                <a:cs typeface="Calibri" pitchFamily="34" charset="-120"/>
              </a:rPr>
              <a:t>FINANCIAL PLANNING &amp; ANALYSIS</a:t>
            </a:r>
            <a:endParaRPr lang="en-US" sz="1300" dirty="0"/>
          </a:p>
        </p:txBody>
      </p:sp>
      <p:sp>
        <p:nvSpPr>
          <p:cNvPr id="8" name="Text 6"/>
          <p:cNvSpPr/>
          <p:nvPr/>
        </p:nvSpPr>
        <p:spPr>
          <a:xfrm>
            <a:off x="566928" y="1956816"/>
            <a:ext cx="7680960" cy="16916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Turning 700 rows</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into four decisions</a:t>
            </a:r>
            <a:endParaRPr lang="en-US" sz="4200" dirty="0"/>
          </a:p>
        </p:txBody>
      </p:sp>
      <p:sp>
        <p:nvSpPr>
          <p:cNvPr id="9" name="Text 7"/>
          <p:cNvSpPr/>
          <p:nvPr/>
        </p:nvSpPr>
        <p:spPr>
          <a:xfrm>
            <a:off x="566928" y="3767328"/>
            <a:ext cx="685800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Power BI reporting model covering revenue, discounting, cost of goods sold and profitability across five segments, five countries and six products.</a:t>
            </a:r>
            <a:endParaRPr lang="en-US" sz="1400" dirty="0"/>
          </a:p>
        </p:txBody>
      </p:sp>
      <p:sp>
        <p:nvSpPr>
          <p:cNvPr id="10" name="Text 8"/>
          <p:cNvSpPr/>
          <p:nvPr/>
        </p:nvSpPr>
        <p:spPr>
          <a:xfrm>
            <a:off x="566928" y="4956048"/>
            <a:ext cx="21945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$118.7 M</a:t>
            </a:r>
            <a:endParaRPr lang="en-US" sz="1700" dirty="0"/>
          </a:p>
        </p:txBody>
      </p:sp>
      <p:sp>
        <p:nvSpPr>
          <p:cNvPr id="11" name="Text 9"/>
          <p:cNvSpPr/>
          <p:nvPr/>
        </p:nvSpPr>
        <p:spPr>
          <a:xfrm>
            <a:off x="566928" y="5266944"/>
            <a:ext cx="2194560" cy="237744"/>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net sales analysed</a:t>
            </a:r>
            <a:endParaRPr lang="en-US" sz="1000" dirty="0"/>
          </a:p>
        </p:txBody>
      </p:sp>
      <p:sp>
        <p:nvSpPr>
          <p:cNvPr id="12" name="Text 10"/>
          <p:cNvSpPr/>
          <p:nvPr/>
        </p:nvSpPr>
        <p:spPr>
          <a:xfrm>
            <a:off x="2898648" y="4956048"/>
            <a:ext cx="21945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16 months</a:t>
            </a:r>
            <a:endParaRPr lang="en-US" sz="1700" dirty="0"/>
          </a:p>
        </p:txBody>
      </p:sp>
      <p:sp>
        <p:nvSpPr>
          <p:cNvPr id="13" name="Text 11"/>
          <p:cNvSpPr/>
          <p:nvPr/>
        </p:nvSpPr>
        <p:spPr>
          <a:xfrm>
            <a:off x="2898648" y="5266944"/>
            <a:ext cx="2194560" cy="237744"/>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Sep 2013 – Dec 2014</a:t>
            </a:r>
            <a:endParaRPr lang="en-US" sz="1000" dirty="0"/>
          </a:p>
        </p:txBody>
      </p:sp>
      <p:sp>
        <p:nvSpPr>
          <p:cNvPr id="14" name="Text 12"/>
          <p:cNvSpPr/>
          <p:nvPr/>
        </p:nvSpPr>
        <p:spPr>
          <a:xfrm>
            <a:off x="5230368" y="4956048"/>
            <a:ext cx="21945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PBIP</a:t>
            </a:r>
            <a:endParaRPr lang="en-US" sz="1700" dirty="0"/>
          </a:p>
        </p:txBody>
      </p:sp>
      <p:sp>
        <p:nvSpPr>
          <p:cNvPr id="15" name="Text 13"/>
          <p:cNvSpPr/>
          <p:nvPr/>
        </p:nvSpPr>
        <p:spPr>
          <a:xfrm>
            <a:off x="5230368" y="5266944"/>
            <a:ext cx="2194560" cy="237744"/>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Git-native format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Four questions a CFO actually asks</a:t>
            </a:r>
            <a:endParaRPr lang="en-US" sz="3000" dirty="0"/>
          </a:p>
        </p:txBody>
      </p:sp>
      <p:sp>
        <p:nvSpPr>
          <p:cNvPr id="4" name="Text 2"/>
          <p:cNvSpPr/>
          <p:nvPr/>
        </p:nvSpPr>
        <p:spPr>
          <a:xfrm>
            <a:off x="566928" y="1371600"/>
            <a:ext cx="7863840" cy="45720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Finance teams rarely need more data. They need the narrative inside it. Every visual in this report exists to answer one of these four questions.</a:t>
            </a:r>
            <a:endParaRPr lang="en-US" sz="1300" dirty="0"/>
          </a:p>
        </p:txBody>
      </p:sp>
      <p:sp>
        <p:nvSpPr>
          <p:cNvPr id="5" name="Shape 3"/>
          <p:cNvSpPr/>
          <p:nvPr/>
        </p:nvSpPr>
        <p:spPr>
          <a:xfrm>
            <a:off x="566928" y="2048256"/>
            <a:ext cx="5382616" cy="1901952"/>
          </a:xfrm>
          <a:prstGeom prst="roundRect">
            <a:avLst>
              <a:gd name="adj" fmla="val 3365"/>
            </a:avLst>
          </a:prstGeom>
          <a:solidFill>
            <a:srgbClr val="E8EDF9"/>
          </a:solidFill>
          <a:ln/>
          <a:effectLst>
            <a:outerShdw sx="100000" sy="100000" kx="0" ky="0" algn="bl" rotWithShape="0" blurRad="127000" dist="25400" dir="5400000">
              <a:srgbClr val="1E2761">
                <a:alpha val="13000"/>
              </a:srgbClr>
            </a:outerShdw>
          </a:effectLst>
        </p:spPr>
      </p:sp>
      <p:sp>
        <p:nvSpPr>
          <p:cNvPr id="6" name="Shape 4"/>
          <p:cNvSpPr/>
          <p:nvPr/>
        </p:nvSpPr>
        <p:spPr>
          <a:xfrm>
            <a:off x="841248" y="2340864"/>
            <a:ext cx="420624" cy="420624"/>
          </a:xfrm>
          <a:prstGeom prst="ellipse">
            <a:avLst/>
          </a:prstGeom>
          <a:solidFill>
            <a:srgbClr val="1E2761"/>
          </a:solidFill>
          <a:ln/>
        </p:spPr>
      </p:sp>
      <p:sp>
        <p:nvSpPr>
          <p:cNvPr id="7" name="Text 5"/>
          <p:cNvSpPr/>
          <p:nvPr/>
        </p:nvSpPr>
        <p:spPr>
          <a:xfrm>
            <a:off x="841248" y="2340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26464" y="2322576"/>
            <a:ext cx="4248760" cy="502920"/>
          </a:xfrm>
          <a:prstGeom prst="rect">
            <a:avLst/>
          </a:prstGeom>
          <a:noFill/>
          <a:ln/>
        </p:spPr>
        <p:txBody>
          <a:bodyPr wrap="square" lIns="0" tIns="0" rIns="0" bIns="0" rtlCol="0" anchor="t"/>
          <a:lstStyle/>
          <a:p>
            <a:pPr indent="0" marL="0">
              <a:buNone/>
            </a:pPr>
            <a:r>
              <a:rPr lang="en-US" sz="1750" b="1" dirty="0">
                <a:solidFill>
                  <a:srgbClr val="1E2761"/>
                </a:solidFill>
                <a:latin typeface="Cambria" pitchFamily="34" charset="0"/>
                <a:ea typeface="Cambria" pitchFamily="34" charset="-122"/>
                <a:cs typeface="Cambria" pitchFamily="34" charset="-120"/>
              </a:rPr>
              <a:t>Where is the money coming from?</a:t>
            </a:r>
            <a:endParaRPr lang="en-US" sz="1750" dirty="0"/>
          </a:p>
        </p:txBody>
      </p:sp>
      <p:sp>
        <p:nvSpPr>
          <p:cNvPr id="9" name="Text 7"/>
          <p:cNvSpPr/>
          <p:nvPr/>
        </p:nvSpPr>
        <p:spPr>
          <a:xfrm>
            <a:off x="1426464" y="2907792"/>
            <a:ext cx="4248760" cy="51206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Revenue mix by segment, country and product.</a:t>
            </a:r>
            <a:endParaRPr lang="en-US" sz="1250" dirty="0"/>
          </a:p>
        </p:txBody>
      </p:sp>
      <p:sp>
        <p:nvSpPr>
          <p:cNvPr id="10" name="Text 8"/>
          <p:cNvSpPr/>
          <p:nvPr/>
        </p:nvSpPr>
        <p:spPr>
          <a:xfrm>
            <a:off x="1426464" y="3474720"/>
            <a:ext cx="4248760" cy="256032"/>
          </a:xfrm>
          <a:prstGeom prst="rect">
            <a:avLst/>
          </a:prstGeom>
          <a:noFill/>
          <a:ln/>
        </p:spPr>
        <p:txBody>
          <a:bodyPr wrap="square" lIns="0" tIns="0" rIns="0" bIns="0" rtlCol="0" anchor="ctr"/>
          <a:lstStyle/>
          <a:p>
            <a:pPr indent="0" marL="0">
              <a:buNone/>
            </a:pPr>
            <a:r>
              <a:rPr lang="en-US" sz="1000" b="1" dirty="0">
                <a:solidFill>
                  <a:srgbClr val="3C5BA9"/>
                </a:solidFill>
                <a:latin typeface="Calibri" pitchFamily="34" charset="0"/>
                <a:ea typeface="Calibri" pitchFamily="34" charset="-122"/>
                <a:cs typeface="Calibri" pitchFamily="34" charset="-120"/>
              </a:rPr>
              <a:t>Report page  ·  Executive Summary</a:t>
            </a:r>
            <a:endParaRPr lang="en-US" sz="1000" dirty="0"/>
          </a:p>
        </p:txBody>
      </p:sp>
      <p:sp>
        <p:nvSpPr>
          <p:cNvPr id="11" name="Shape 9"/>
          <p:cNvSpPr/>
          <p:nvPr/>
        </p:nvSpPr>
        <p:spPr>
          <a:xfrm>
            <a:off x="6242152" y="2048256"/>
            <a:ext cx="5382616" cy="1901952"/>
          </a:xfrm>
          <a:prstGeom prst="roundRect">
            <a:avLst>
              <a:gd name="adj" fmla="val 3365"/>
            </a:avLst>
          </a:prstGeom>
          <a:solidFill>
            <a:srgbClr val="E8EDF9"/>
          </a:solidFill>
          <a:ln/>
          <a:effectLst>
            <a:outerShdw sx="100000" sy="100000" kx="0" ky="0" algn="bl" rotWithShape="0" blurRad="127000" dist="25400" dir="5400000">
              <a:srgbClr val="1E2761">
                <a:alpha val="13000"/>
              </a:srgbClr>
            </a:outerShdw>
          </a:effectLst>
        </p:spPr>
      </p:sp>
      <p:sp>
        <p:nvSpPr>
          <p:cNvPr id="12" name="Shape 10"/>
          <p:cNvSpPr/>
          <p:nvPr/>
        </p:nvSpPr>
        <p:spPr>
          <a:xfrm>
            <a:off x="6516472" y="2340864"/>
            <a:ext cx="420624" cy="420624"/>
          </a:xfrm>
          <a:prstGeom prst="ellipse">
            <a:avLst/>
          </a:prstGeom>
          <a:solidFill>
            <a:srgbClr val="1E2761"/>
          </a:solidFill>
          <a:ln/>
        </p:spPr>
      </p:sp>
      <p:sp>
        <p:nvSpPr>
          <p:cNvPr id="13" name="Text 11"/>
          <p:cNvSpPr/>
          <p:nvPr/>
        </p:nvSpPr>
        <p:spPr>
          <a:xfrm>
            <a:off x="6516472" y="2340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7101688" y="2322576"/>
            <a:ext cx="4248760" cy="502920"/>
          </a:xfrm>
          <a:prstGeom prst="rect">
            <a:avLst/>
          </a:prstGeom>
          <a:noFill/>
          <a:ln/>
        </p:spPr>
        <p:txBody>
          <a:bodyPr wrap="square" lIns="0" tIns="0" rIns="0" bIns="0" rtlCol="0" anchor="t"/>
          <a:lstStyle/>
          <a:p>
            <a:pPr indent="0" marL="0">
              <a:buNone/>
            </a:pPr>
            <a:r>
              <a:rPr lang="en-US" sz="1750" b="1" dirty="0">
                <a:solidFill>
                  <a:srgbClr val="1E2761"/>
                </a:solidFill>
                <a:latin typeface="Cambria" pitchFamily="34" charset="0"/>
                <a:ea typeface="Cambria" pitchFamily="34" charset="-122"/>
                <a:cs typeface="Cambria" pitchFamily="34" charset="-120"/>
              </a:rPr>
              <a:t>Where is it leaking?</a:t>
            </a:r>
            <a:endParaRPr lang="en-US" sz="1750" dirty="0"/>
          </a:p>
        </p:txBody>
      </p:sp>
      <p:sp>
        <p:nvSpPr>
          <p:cNvPr id="15" name="Text 13"/>
          <p:cNvSpPr/>
          <p:nvPr/>
        </p:nvSpPr>
        <p:spPr>
          <a:xfrm>
            <a:off x="7101688" y="2907792"/>
            <a:ext cx="4248760" cy="51206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Discount exposure and its measurable cost to margin.</a:t>
            </a:r>
            <a:endParaRPr lang="en-US" sz="1250" dirty="0"/>
          </a:p>
        </p:txBody>
      </p:sp>
      <p:sp>
        <p:nvSpPr>
          <p:cNvPr id="16" name="Text 14"/>
          <p:cNvSpPr/>
          <p:nvPr/>
        </p:nvSpPr>
        <p:spPr>
          <a:xfrm>
            <a:off x="7101688" y="3474720"/>
            <a:ext cx="4248760" cy="256032"/>
          </a:xfrm>
          <a:prstGeom prst="rect">
            <a:avLst/>
          </a:prstGeom>
          <a:noFill/>
          <a:ln/>
        </p:spPr>
        <p:txBody>
          <a:bodyPr wrap="square" lIns="0" tIns="0" rIns="0" bIns="0" rtlCol="0" anchor="ctr"/>
          <a:lstStyle/>
          <a:p>
            <a:pPr indent="0" marL="0">
              <a:buNone/>
            </a:pPr>
            <a:r>
              <a:rPr lang="en-US" sz="1000" b="1" dirty="0">
                <a:solidFill>
                  <a:srgbClr val="3C5BA9"/>
                </a:solidFill>
                <a:latin typeface="Calibri" pitchFamily="34" charset="0"/>
                <a:ea typeface="Calibri" pitchFamily="34" charset="-122"/>
                <a:cs typeface="Calibri" pitchFamily="34" charset="-120"/>
              </a:rPr>
              <a:t>Report page  ·  Discount Analysis</a:t>
            </a:r>
            <a:endParaRPr lang="en-US" sz="1000" dirty="0"/>
          </a:p>
        </p:txBody>
      </p:sp>
      <p:sp>
        <p:nvSpPr>
          <p:cNvPr id="17" name="Shape 15"/>
          <p:cNvSpPr/>
          <p:nvPr/>
        </p:nvSpPr>
        <p:spPr>
          <a:xfrm>
            <a:off x="566928" y="4206240"/>
            <a:ext cx="5382616" cy="1901952"/>
          </a:xfrm>
          <a:prstGeom prst="roundRect">
            <a:avLst>
              <a:gd name="adj" fmla="val 3365"/>
            </a:avLst>
          </a:prstGeom>
          <a:solidFill>
            <a:srgbClr val="E8EDF9"/>
          </a:solidFill>
          <a:ln/>
          <a:effectLst>
            <a:outerShdw sx="100000" sy="100000" kx="0" ky="0" algn="bl" rotWithShape="0" blurRad="127000" dist="25400" dir="5400000">
              <a:srgbClr val="1E2761">
                <a:alpha val="13000"/>
              </a:srgbClr>
            </a:outerShdw>
          </a:effectLst>
        </p:spPr>
      </p:sp>
      <p:sp>
        <p:nvSpPr>
          <p:cNvPr id="18" name="Shape 16"/>
          <p:cNvSpPr/>
          <p:nvPr/>
        </p:nvSpPr>
        <p:spPr>
          <a:xfrm>
            <a:off x="841248" y="4498848"/>
            <a:ext cx="420624" cy="420624"/>
          </a:xfrm>
          <a:prstGeom prst="ellipse">
            <a:avLst/>
          </a:prstGeom>
          <a:solidFill>
            <a:srgbClr val="1E2761"/>
          </a:solidFill>
          <a:ln/>
        </p:spPr>
      </p:sp>
      <p:sp>
        <p:nvSpPr>
          <p:cNvPr id="19" name="Text 17"/>
          <p:cNvSpPr/>
          <p:nvPr/>
        </p:nvSpPr>
        <p:spPr>
          <a:xfrm>
            <a:off x="841248" y="4498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426464" y="4480560"/>
            <a:ext cx="4248760" cy="502920"/>
          </a:xfrm>
          <a:prstGeom prst="rect">
            <a:avLst/>
          </a:prstGeom>
          <a:noFill/>
          <a:ln/>
        </p:spPr>
        <p:txBody>
          <a:bodyPr wrap="square" lIns="0" tIns="0" rIns="0" bIns="0" rtlCol="0" anchor="t"/>
          <a:lstStyle/>
          <a:p>
            <a:pPr indent="0" marL="0">
              <a:buNone/>
            </a:pPr>
            <a:r>
              <a:rPr lang="en-US" sz="1750" b="1" dirty="0">
                <a:solidFill>
                  <a:srgbClr val="1E2761"/>
                </a:solidFill>
                <a:latin typeface="Cambria" pitchFamily="34" charset="0"/>
                <a:ea typeface="Cambria" pitchFamily="34" charset="-122"/>
                <a:cs typeface="Cambria" pitchFamily="34" charset="-120"/>
              </a:rPr>
              <a:t>What are we selling at a loss?</a:t>
            </a:r>
            <a:endParaRPr lang="en-US" sz="1750" dirty="0"/>
          </a:p>
        </p:txBody>
      </p:sp>
      <p:sp>
        <p:nvSpPr>
          <p:cNvPr id="21" name="Text 19"/>
          <p:cNvSpPr/>
          <p:nvPr/>
        </p:nvSpPr>
        <p:spPr>
          <a:xfrm>
            <a:off x="1426464" y="5065776"/>
            <a:ext cx="4248760" cy="51206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Segment profitability, not just segment revenue.</a:t>
            </a:r>
            <a:endParaRPr lang="en-US" sz="1250" dirty="0"/>
          </a:p>
        </p:txBody>
      </p:sp>
      <p:sp>
        <p:nvSpPr>
          <p:cNvPr id="22" name="Text 20"/>
          <p:cNvSpPr/>
          <p:nvPr/>
        </p:nvSpPr>
        <p:spPr>
          <a:xfrm>
            <a:off x="1426464" y="5632704"/>
            <a:ext cx="4248760" cy="256032"/>
          </a:xfrm>
          <a:prstGeom prst="rect">
            <a:avLst/>
          </a:prstGeom>
          <a:noFill/>
          <a:ln/>
        </p:spPr>
        <p:txBody>
          <a:bodyPr wrap="square" lIns="0" tIns="0" rIns="0" bIns="0" rtlCol="0" anchor="ctr"/>
          <a:lstStyle/>
          <a:p>
            <a:pPr indent="0" marL="0">
              <a:buNone/>
            </a:pPr>
            <a:r>
              <a:rPr lang="en-US" sz="1000" b="1" dirty="0">
                <a:solidFill>
                  <a:srgbClr val="3C5BA9"/>
                </a:solidFill>
                <a:latin typeface="Calibri" pitchFamily="34" charset="0"/>
                <a:ea typeface="Calibri" pitchFamily="34" charset="-122"/>
                <a:cs typeface="Calibri" pitchFamily="34" charset="-120"/>
              </a:rPr>
              <a:t>Report page  ·  Profitability</a:t>
            </a:r>
            <a:endParaRPr lang="en-US" sz="1000" dirty="0"/>
          </a:p>
        </p:txBody>
      </p:sp>
      <p:sp>
        <p:nvSpPr>
          <p:cNvPr id="23" name="Shape 21"/>
          <p:cNvSpPr/>
          <p:nvPr/>
        </p:nvSpPr>
        <p:spPr>
          <a:xfrm>
            <a:off x="6242152" y="4206240"/>
            <a:ext cx="5382616" cy="1901952"/>
          </a:xfrm>
          <a:prstGeom prst="roundRect">
            <a:avLst>
              <a:gd name="adj" fmla="val 3365"/>
            </a:avLst>
          </a:prstGeom>
          <a:solidFill>
            <a:srgbClr val="E8EDF9"/>
          </a:solidFill>
          <a:ln/>
          <a:effectLst>
            <a:outerShdw sx="100000" sy="100000" kx="0" ky="0" algn="bl" rotWithShape="0" blurRad="127000" dist="25400" dir="5400000">
              <a:srgbClr val="1E2761">
                <a:alpha val="13000"/>
              </a:srgbClr>
            </a:outerShdw>
          </a:effectLst>
        </p:spPr>
      </p:sp>
      <p:sp>
        <p:nvSpPr>
          <p:cNvPr id="24" name="Shape 22"/>
          <p:cNvSpPr/>
          <p:nvPr/>
        </p:nvSpPr>
        <p:spPr>
          <a:xfrm>
            <a:off x="6516472" y="4498848"/>
            <a:ext cx="420624" cy="420624"/>
          </a:xfrm>
          <a:prstGeom prst="ellipse">
            <a:avLst/>
          </a:prstGeom>
          <a:solidFill>
            <a:srgbClr val="1E2761"/>
          </a:solidFill>
          <a:ln/>
        </p:spPr>
      </p:sp>
      <p:sp>
        <p:nvSpPr>
          <p:cNvPr id="25" name="Text 23"/>
          <p:cNvSpPr/>
          <p:nvPr/>
        </p:nvSpPr>
        <p:spPr>
          <a:xfrm>
            <a:off x="6516472" y="4498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7101688" y="4480560"/>
            <a:ext cx="4248760" cy="502920"/>
          </a:xfrm>
          <a:prstGeom prst="rect">
            <a:avLst/>
          </a:prstGeom>
          <a:noFill/>
          <a:ln/>
        </p:spPr>
        <p:txBody>
          <a:bodyPr wrap="square" lIns="0" tIns="0" rIns="0" bIns="0" rtlCol="0" anchor="t"/>
          <a:lstStyle/>
          <a:p>
            <a:pPr indent="0" marL="0">
              <a:buNone/>
            </a:pPr>
            <a:r>
              <a:rPr lang="en-US" sz="1750" b="1" dirty="0">
                <a:solidFill>
                  <a:srgbClr val="1E2761"/>
                </a:solidFill>
                <a:latin typeface="Cambria" pitchFamily="34" charset="0"/>
                <a:ea typeface="Cambria" pitchFamily="34" charset="-122"/>
                <a:cs typeface="Cambria" pitchFamily="34" charset="-120"/>
              </a:rPr>
              <a:t>Which way is the trend pointing?</a:t>
            </a:r>
            <a:endParaRPr lang="en-US" sz="1750" dirty="0"/>
          </a:p>
        </p:txBody>
      </p:sp>
      <p:sp>
        <p:nvSpPr>
          <p:cNvPr id="27" name="Text 25"/>
          <p:cNvSpPr/>
          <p:nvPr/>
        </p:nvSpPr>
        <p:spPr>
          <a:xfrm>
            <a:off x="7101688" y="5065776"/>
            <a:ext cx="4248760" cy="51206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Monthly performance on a like-for-like basis.</a:t>
            </a:r>
            <a:endParaRPr lang="en-US" sz="1250" dirty="0"/>
          </a:p>
        </p:txBody>
      </p:sp>
      <p:sp>
        <p:nvSpPr>
          <p:cNvPr id="28" name="Text 26"/>
          <p:cNvSpPr/>
          <p:nvPr/>
        </p:nvSpPr>
        <p:spPr>
          <a:xfrm>
            <a:off x="7101688" y="5632704"/>
            <a:ext cx="4248760" cy="256032"/>
          </a:xfrm>
          <a:prstGeom prst="rect">
            <a:avLst/>
          </a:prstGeom>
          <a:noFill/>
          <a:ln/>
        </p:spPr>
        <p:txBody>
          <a:bodyPr wrap="square" lIns="0" tIns="0" rIns="0" bIns="0" rtlCol="0" anchor="ctr"/>
          <a:lstStyle/>
          <a:p>
            <a:pPr indent="0" marL="0">
              <a:buNone/>
            </a:pPr>
            <a:r>
              <a:rPr lang="en-US" sz="1000" b="1" dirty="0">
                <a:solidFill>
                  <a:srgbClr val="3C5BA9"/>
                </a:solidFill>
                <a:latin typeface="Calibri" pitchFamily="34" charset="0"/>
                <a:ea typeface="Calibri" pitchFamily="34" charset="-122"/>
                <a:cs typeface="Calibri" pitchFamily="34" charset="-120"/>
              </a:rPr>
              <a:t>Report page  ·  Executive Summary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SOURCE DATA</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dataset</a:t>
            </a:r>
            <a:endParaRPr lang="en-US" sz="3000" dirty="0"/>
          </a:p>
        </p:txBody>
      </p:sp>
      <p:sp>
        <p:nvSpPr>
          <p:cNvPr id="4" name="Shape 2"/>
          <p:cNvSpPr/>
          <p:nvPr/>
        </p:nvSpPr>
        <p:spPr>
          <a:xfrm>
            <a:off x="566928" y="1554480"/>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5" name="Text 3"/>
          <p:cNvSpPr/>
          <p:nvPr/>
        </p:nvSpPr>
        <p:spPr>
          <a:xfrm>
            <a:off x="585216" y="1737360"/>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700</a:t>
            </a:r>
            <a:endParaRPr lang="en-US" sz="2900" dirty="0"/>
          </a:p>
        </p:txBody>
      </p:sp>
      <p:sp>
        <p:nvSpPr>
          <p:cNvPr id="6" name="Text 4"/>
          <p:cNvSpPr/>
          <p:nvPr/>
        </p:nvSpPr>
        <p:spPr>
          <a:xfrm>
            <a:off x="585216" y="2286000"/>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records</a:t>
            </a:r>
            <a:endParaRPr lang="en-US" sz="1250" dirty="0"/>
          </a:p>
        </p:txBody>
      </p:sp>
      <p:sp>
        <p:nvSpPr>
          <p:cNvPr id="7" name="Shape 5"/>
          <p:cNvSpPr/>
          <p:nvPr/>
        </p:nvSpPr>
        <p:spPr>
          <a:xfrm>
            <a:off x="2962656" y="1554480"/>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8" name="Text 6"/>
          <p:cNvSpPr/>
          <p:nvPr/>
        </p:nvSpPr>
        <p:spPr>
          <a:xfrm>
            <a:off x="2980944" y="1737360"/>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16</a:t>
            </a:r>
            <a:endParaRPr lang="en-US" sz="2900" dirty="0"/>
          </a:p>
        </p:txBody>
      </p:sp>
      <p:sp>
        <p:nvSpPr>
          <p:cNvPr id="9" name="Text 7"/>
          <p:cNvSpPr/>
          <p:nvPr/>
        </p:nvSpPr>
        <p:spPr>
          <a:xfrm>
            <a:off x="2980944" y="2286000"/>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fields</a:t>
            </a:r>
            <a:endParaRPr lang="en-US" sz="1250" dirty="0"/>
          </a:p>
        </p:txBody>
      </p:sp>
      <p:sp>
        <p:nvSpPr>
          <p:cNvPr id="10" name="Shape 8"/>
          <p:cNvSpPr/>
          <p:nvPr/>
        </p:nvSpPr>
        <p:spPr>
          <a:xfrm>
            <a:off x="5358384" y="1554480"/>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11" name="Text 9"/>
          <p:cNvSpPr/>
          <p:nvPr/>
        </p:nvSpPr>
        <p:spPr>
          <a:xfrm>
            <a:off x="5376672" y="1737360"/>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16</a:t>
            </a:r>
            <a:endParaRPr lang="en-US" sz="2900" dirty="0"/>
          </a:p>
        </p:txBody>
      </p:sp>
      <p:sp>
        <p:nvSpPr>
          <p:cNvPr id="12" name="Text 10"/>
          <p:cNvSpPr/>
          <p:nvPr/>
        </p:nvSpPr>
        <p:spPr>
          <a:xfrm>
            <a:off x="5376672" y="2286000"/>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months</a:t>
            </a:r>
            <a:endParaRPr lang="en-US" sz="1250" dirty="0"/>
          </a:p>
        </p:txBody>
      </p:sp>
      <p:sp>
        <p:nvSpPr>
          <p:cNvPr id="13" name="Shape 11"/>
          <p:cNvSpPr/>
          <p:nvPr/>
        </p:nvSpPr>
        <p:spPr>
          <a:xfrm>
            <a:off x="566928" y="2962656"/>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14" name="Text 12"/>
          <p:cNvSpPr/>
          <p:nvPr/>
        </p:nvSpPr>
        <p:spPr>
          <a:xfrm>
            <a:off x="585216" y="3145536"/>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5</a:t>
            </a:r>
            <a:endParaRPr lang="en-US" sz="2900" dirty="0"/>
          </a:p>
        </p:txBody>
      </p:sp>
      <p:sp>
        <p:nvSpPr>
          <p:cNvPr id="15" name="Text 13"/>
          <p:cNvSpPr/>
          <p:nvPr/>
        </p:nvSpPr>
        <p:spPr>
          <a:xfrm>
            <a:off x="585216" y="3694176"/>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segments</a:t>
            </a:r>
            <a:endParaRPr lang="en-US" sz="1250" dirty="0"/>
          </a:p>
        </p:txBody>
      </p:sp>
      <p:sp>
        <p:nvSpPr>
          <p:cNvPr id="16" name="Shape 14"/>
          <p:cNvSpPr/>
          <p:nvPr/>
        </p:nvSpPr>
        <p:spPr>
          <a:xfrm>
            <a:off x="2962656" y="2962656"/>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17" name="Text 15"/>
          <p:cNvSpPr/>
          <p:nvPr/>
        </p:nvSpPr>
        <p:spPr>
          <a:xfrm>
            <a:off x="2980944" y="3145536"/>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5</a:t>
            </a:r>
            <a:endParaRPr lang="en-US" sz="2900" dirty="0"/>
          </a:p>
        </p:txBody>
      </p:sp>
      <p:sp>
        <p:nvSpPr>
          <p:cNvPr id="18" name="Text 16"/>
          <p:cNvSpPr/>
          <p:nvPr/>
        </p:nvSpPr>
        <p:spPr>
          <a:xfrm>
            <a:off x="2980944" y="3694176"/>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countries</a:t>
            </a:r>
            <a:endParaRPr lang="en-US" sz="1250" dirty="0"/>
          </a:p>
        </p:txBody>
      </p:sp>
      <p:sp>
        <p:nvSpPr>
          <p:cNvPr id="19" name="Shape 17"/>
          <p:cNvSpPr/>
          <p:nvPr/>
        </p:nvSpPr>
        <p:spPr>
          <a:xfrm>
            <a:off x="5358384" y="2962656"/>
            <a:ext cx="2212848" cy="1225296"/>
          </a:xfrm>
          <a:prstGeom prst="roundRect">
            <a:avLst>
              <a:gd name="adj" fmla="val 5224"/>
            </a:avLst>
          </a:prstGeom>
          <a:solidFill>
            <a:srgbClr val="E8EDF9"/>
          </a:solidFill>
          <a:ln/>
          <a:effectLst>
            <a:outerShdw sx="100000" sy="100000" kx="0" ky="0" algn="bl" rotWithShape="0" blurRad="127000" dist="25400" dir="5400000">
              <a:srgbClr val="1E2761">
                <a:alpha val="13000"/>
              </a:srgbClr>
            </a:outerShdw>
          </a:effectLst>
        </p:spPr>
      </p:sp>
      <p:sp>
        <p:nvSpPr>
          <p:cNvPr id="20" name="Text 18"/>
          <p:cNvSpPr/>
          <p:nvPr/>
        </p:nvSpPr>
        <p:spPr>
          <a:xfrm>
            <a:off x="5376672" y="3145536"/>
            <a:ext cx="2176272" cy="548640"/>
          </a:xfrm>
          <a:prstGeom prst="rect">
            <a:avLst/>
          </a:prstGeom>
          <a:noFill/>
          <a:ln/>
        </p:spPr>
        <p:txBody>
          <a:bodyPr wrap="square" lIns="0" tIns="0" rIns="0" bIns="0" rtlCol="0" anchor="ctr"/>
          <a:lstStyle/>
          <a:p>
            <a:pPr algn="ctr" indent="0" marL="0">
              <a:buNone/>
            </a:pPr>
            <a:r>
              <a:rPr lang="en-US" sz="2900" b="1" dirty="0">
                <a:solidFill>
                  <a:srgbClr val="1E2761"/>
                </a:solidFill>
                <a:latin typeface="Cambria" pitchFamily="34" charset="0"/>
                <a:ea typeface="Cambria" pitchFamily="34" charset="-122"/>
                <a:cs typeface="Cambria" pitchFamily="34" charset="-120"/>
              </a:rPr>
              <a:t>6</a:t>
            </a:r>
            <a:endParaRPr lang="en-US" sz="2900" dirty="0"/>
          </a:p>
        </p:txBody>
      </p:sp>
      <p:sp>
        <p:nvSpPr>
          <p:cNvPr id="21" name="Text 19"/>
          <p:cNvSpPr/>
          <p:nvPr/>
        </p:nvSpPr>
        <p:spPr>
          <a:xfrm>
            <a:off x="5376672" y="3694176"/>
            <a:ext cx="2176272" cy="27432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products</a:t>
            </a:r>
            <a:endParaRPr lang="en-US" sz="1250" dirty="0"/>
          </a:p>
        </p:txBody>
      </p:sp>
      <p:sp>
        <p:nvSpPr>
          <p:cNvPr id="22" name="Text 20"/>
          <p:cNvSpPr/>
          <p:nvPr/>
        </p:nvSpPr>
        <p:spPr>
          <a:xfrm>
            <a:off x="566928" y="4572000"/>
            <a:ext cx="6949440" cy="256032"/>
          </a:xfrm>
          <a:prstGeom prst="rect">
            <a:avLst/>
          </a:prstGeom>
          <a:noFill/>
          <a:ln/>
        </p:spPr>
        <p:txBody>
          <a:bodyPr wrap="square" lIns="0" tIns="0" rIns="0" bIns="0" rtlCol="0" anchor="ctr"/>
          <a:lstStyle/>
          <a:p>
            <a:pPr indent="0" marL="0">
              <a:buNone/>
            </a:pPr>
            <a:r>
              <a:rPr lang="en-US" sz="1100" b="1" spc="150" kern="0" dirty="0">
                <a:solidFill>
                  <a:srgbClr val="3C5BA9"/>
                </a:solidFill>
                <a:latin typeface="Calibri" pitchFamily="34" charset="0"/>
                <a:ea typeface="Calibri" pitchFamily="34" charset="-122"/>
                <a:cs typeface="Calibri" pitchFamily="34" charset="-120"/>
              </a:rPr>
              <a:t>Grain</a:t>
            </a:r>
            <a:endParaRPr lang="en-US" sz="1100" dirty="0"/>
          </a:p>
        </p:txBody>
      </p:sp>
      <p:sp>
        <p:nvSpPr>
          <p:cNvPr id="23" name="Text 21"/>
          <p:cNvSpPr/>
          <p:nvPr/>
        </p:nvSpPr>
        <p:spPr>
          <a:xfrm>
            <a:off x="566928" y="4846320"/>
            <a:ext cx="6949440" cy="329184"/>
          </a:xfrm>
          <a:prstGeom prst="rect">
            <a:avLst/>
          </a:prstGeom>
          <a:noFill/>
          <a:ln/>
        </p:spPr>
        <p:txBody>
          <a:bodyPr wrap="square" lIns="0" tIns="0" rIns="0" bIns="0" rtlCol="0" anchor="ctr"/>
          <a:lstStyle/>
          <a:p>
            <a:pPr indent="0" marL="0">
              <a:buNone/>
            </a:pPr>
            <a:r>
              <a:rPr lang="en-US" sz="1500" dirty="0">
                <a:solidFill>
                  <a:srgbClr val="1E2761"/>
                </a:solidFill>
                <a:latin typeface="Cambria" pitchFamily="34" charset="0"/>
                <a:ea typeface="Cambria" pitchFamily="34" charset="-122"/>
                <a:cs typeface="Cambria" pitchFamily="34" charset="-120"/>
              </a:rPr>
              <a:t>One row per  Segment × Country × Product × Discount Band × Month</a:t>
            </a:r>
            <a:endParaRPr lang="en-US" sz="1500" dirty="0"/>
          </a:p>
        </p:txBody>
      </p:sp>
      <p:sp>
        <p:nvSpPr>
          <p:cNvPr id="24" name="Text 22"/>
          <p:cNvSpPr/>
          <p:nvPr/>
        </p:nvSpPr>
        <p:spPr>
          <a:xfrm>
            <a:off x="566928" y="5285232"/>
            <a:ext cx="6949440" cy="73152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Source: Microsoft Financial Sample, supplied as both the original .xlsx workbook and a flattened .csv. Three arithmetic identities were verified across all 700 rows before modelling, not assumed.</a:t>
            </a:r>
            <a:endParaRPr lang="en-US" sz="1150" dirty="0"/>
          </a:p>
        </p:txBody>
      </p:sp>
      <p:sp>
        <p:nvSpPr>
          <p:cNvPr id="25" name="Shape 23"/>
          <p:cNvSpPr/>
          <p:nvPr/>
        </p:nvSpPr>
        <p:spPr>
          <a:xfrm>
            <a:off x="7927848" y="1554480"/>
            <a:ext cx="3696919" cy="4462272"/>
          </a:xfrm>
          <a:prstGeom prst="roundRect">
            <a:avLst>
              <a:gd name="adj" fmla="val 1731"/>
            </a:avLst>
          </a:prstGeom>
          <a:solidFill>
            <a:srgbClr val="1E2761"/>
          </a:solidFill>
          <a:ln/>
          <a:effectLst>
            <a:outerShdw sx="100000" sy="100000" kx="0" ky="0" algn="bl" rotWithShape="0" blurRad="127000" dist="25400" dir="5400000">
              <a:srgbClr val="1E2761">
                <a:alpha val="13000"/>
              </a:srgbClr>
            </a:outerShdw>
          </a:effectLst>
        </p:spPr>
      </p:sp>
      <p:sp>
        <p:nvSpPr>
          <p:cNvPr id="26" name="Text 24"/>
          <p:cNvSpPr/>
          <p:nvPr/>
        </p:nvSpPr>
        <p:spPr>
          <a:xfrm>
            <a:off x="8202168" y="1792224"/>
            <a:ext cx="3148279" cy="292608"/>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Data quality</a:t>
            </a:r>
            <a:endParaRPr lang="en-US" sz="1100" dirty="0"/>
          </a:p>
        </p:txBody>
      </p:sp>
      <p:sp>
        <p:nvSpPr>
          <p:cNvPr id="27" name="Shape 25"/>
          <p:cNvSpPr/>
          <p:nvPr/>
        </p:nvSpPr>
        <p:spPr>
          <a:xfrm>
            <a:off x="8202168" y="2313432"/>
            <a:ext cx="128016" cy="128016"/>
          </a:xfrm>
          <a:prstGeom prst="ellipse">
            <a:avLst/>
          </a:prstGeom>
          <a:solidFill>
            <a:srgbClr val="00A896"/>
          </a:solidFill>
          <a:ln/>
        </p:spPr>
      </p:sp>
      <p:sp>
        <p:nvSpPr>
          <p:cNvPr id="28" name="Text 26"/>
          <p:cNvSpPr/>
          <p:nvPr/>
        </p:nvSpPr>
        <p:spPr>
          <a:xfrm>
            <a:off x="8439912" y="2249424"/>
            <a:ext cx="2910535"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53 blank discount bands</a:t>
            </a:r>
            <a:endParaRPr lang="en-US" sz="1200" dirty="0"/>
          </a:p>
        </p:txBody>
      </p:sp>
      <p:sp>
        <p:nvSpPr>
          <p:cNvPr id="29" name="Text 27"/>
          <p:cNvSpPr/>
          <p:nvPr/>
        </p:nvSpPr>
        <p:spPr>
          <a:xfrm>
            <a:off x="8439912" y="2487168"/>
            <a:ext cx="2910535" cy="51206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All have Discounts = 0, so blank means "None" — recoded, not dropped.</a:t>
            </a:r>
            <a:endParaRPr lang="en-US" sz="1050" dirty="0"/>
          </a:p>
        </p:txBody>
      </p:sp>
      <p:sp>
        <p:nvSpPr>
          <p:cNvPr id="30" name="Shape 28"/>
          <p:cNvSpPr/>
          <p:nvPr/>
        </p:nvSpPr>
        <p:spPr>
          <a:xfrm>
            <a:off x="8202168" y="3246120"/>
            <a:ext cx="128016" cy="128016"/>
          </a:xfrm>
          <a:prstGeom prst="ellipse">
            <a:avLst/>
          </a:prstGeom>
          <a:solidFill>
            <a:srgbClr val="00A896"/>
          </a:solidFill>
          <a:ln/>
        </p:spPr>
      </p:sp>
      <p:sp>
        <p:nvSpPr>
          <p:cNvPr id="31" name="Text 29"/>
          <p:cNvSpPr/>
          <p:nvPr/>
        </p:nvSpPr>
        <p:spPr>
          <a:xfrm>
            <a:off x="8439912" y="3182112"/>
            <a:ext cx="2910535"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2013 is a partial year</a:t>
            </a:r>
            <a:endParaRPr lang="en-US" sz="1200" dirty="0"/>
          </a:p>
        </p:txBody>
      </p:sp>
      <p:sp>
        <p:nvSpPr>
          <p:cNvPr id="32" name="Text 30"/>
          <p:cNvSpPr/>
          <p:nvPr/>
        </p:nvSpPr>
        <p:spPr>
          <a:xfrm>
            <a:off x="8439912" y="3419856"/>
            <a:ext cx="2910535" cy="51206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Sep–Dec only. Raw YoY is invalid; a like-for-like window is used instead.</a:t>
            </a:r>
            <a:endParaRPr lang="en-US" sz="1050" dirty="0"/>
          </a:p>
        </p:txBody>
      </p:sp>
      <p:sp>
        <p:nvSpPr>
          <p:cNvPr id="33" name="Shape 31"/>
          <p:cNvSpPr/>
          <p:nvPr/>
        </p:nvSpPr>
        <p:spPr>
          <a:xfrm>
            <a:off x="8202168" y="4178808"/>
            <a:ext cx="128016" cy="128016"/>
          </a:xfrm>
          <a:prstGeom prst="ellipse">
            <a:avLst/>
          </a:prstGeom>
          <a:solidFill>
            <a:srgbClr val="00A896"/>
          </a:solidFill>
          <a:ln/>
        </p:spPr>
      </p:sp>
      <p:sp>
        <p:nvSpPr>
          <p:cNvPr id="34" name="Text 32"/>
          <p:cNvSpPr/>
          <p:nvPr/>
        </p:nvSpPr>
        <p:spPr>
          <a:xfrm>
            <a:off x="8439912" y="4114800"/>
            <a:ext cx="2910535"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Fractional units sold</a:t>
            </a:r>
            <a:endParaRPr lang="en-US" sz="1200" dirty="0"/>
          </a:p>
        </p:txBody>
      </p:sp>
      <p:sp>
        <p:nvSpPr>
          <p:cNvPr id="35" name="Text 33"/>
          <p:cNvSpPr/>
          <p:nvPr/>
        </p:nvSpPr>
        <p:spPr>
          <a:xfrm>
            <a:off x="8439912" y="4352544"/>
            <a:ext cx="2910535" cy="51206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36 rows. Rounding would break the revenue identities.</a:t>
            </a:r>
            <a:endParaRPr lang="en-US" sz="1050" dirty="0"/>
          </a:p>
        </p:txBody>
      </p:sp>
      <p:sp>
        <p:nvSpPr>
          <p:cNvPr id="36" name="Shape 34"/>
          <p:cNvSpPr/>
          <p:nvPr/>
        </p:nvSpPr>
        <p:spPr>
          <a:xfrm>
            <a:off x="8202168" y="5111496"/>
            <a:ext cx="128016" cy="128016"/>
          </a:xfrm>
          <a:prstGeom prst="ellipse">
            <a:avLst/>
          </a:prstGeom>
          <a:solidFill>
            <a:srgbClr val="00A896"/>
          </a:solidFill>
          <a:ln/>
        </p:spPr>
      </p:sp>
      <p:sp>
        <p:nvSpPr>
          <p:cNvPr id="37" name="Text 35"/>
          <p:cNvSpPr/>
          <p:nvPr/>
        </p:nvSpPr>
        <p:spPr>
          <a:xfrm>
            <a:off x="8439912" y="5047488"/>
            <a:ext cx="2910535"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nulls elsewhere</a:t>
            </a:r>
            <a:endParaRPr lang="en-US" sz="1200" dirty="0"/>
          </a:p>
        </p:txBody>
      </p:sp>
      <p:sp>
        <p:nvSpPr>
          <p:cNvPr id="38" name="Text 36"/>
          <p:cNvSpPr/>
          <p:nvPr/>
        </p:nvSpPr>
        <p:spPr>
          <a:xfrm>
            <a:off x="8439912" y="5285232"/>
            <a:ext cx="2910535" cy="51206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All other 15 columns complete across 700 rows.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HEADLINE RESULTS</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From gross sales to profit</a:t>
            </a:r>
            <a:endParaRPr lang="en-US" sz="3000" dirty="0"/>
          </a:p>
        </p:txBody>
      </p:sp>
      <p:sp>
        <p:nvSpPr>
          <p:cNvPr id="4" name="Shape 2"/>
          <p:cNvSpPr/>
          <p:nvPr/>
        </p:nvSpPr>
        <p:spPr>
          <a:xfrm>
            <a:off x="566928" y="1645920"/>
            <a:ext cx="2057400" cy="1755648"/>
          </a:xfrm>
          <a:prstGeom prst="roundRect">
            <a:avLst>
              <a:gd name="adj" fmla="val 3646"/>
            </a:avLst>
          </a:prstGeom>
          <a:solidFill>
            <a:srgbClr val="E8EDF9"/>
          </a:solidFill>
          <a:ln/>
          <a:effectLst>
            <a:outerShdw sx="100000" sy="100000" kx="0" ky="0" algn="bl" rotWithShape="0" blurRad="127000" dist="25400" dir="5400000">
              <a:srgbClr val="1E2761">
                <a:alpha val="13000"/>
              </a:srgbClr>
            </a:outerShdw>
          </a:effectLst>
        </p:spPr>
      </p:sp>
      <p:sp>
        <p:nvSpPr>
          <p:cNvPr id="5" name="Text 3"/>
          <p:cNvSpPr/>
          <p:nvPr/>
        </p:nvSpPr>
        <p:spPr>
          <a:xfrm>
            <a:off x="585216" y="1847088"/>
            <a:ext cx="2020824" cy="475488"/>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$127.93 M</a:t>
            </a:r>
            <a:endParaRPr lang="en-US" sz="1900" dirty="0"/>
          </a:p>
        </p:txBody>
      </p:sp>
      <p:sp>
        <p:nvSpPr>
          <p:cNvPr id="6" name="Text 4"/>
          <p:cNvSpPr/>
          <p:nvPr/>
        </p:nvSpPr>
        <p:spPr>
          <a:xfrm>
            <a:off x="585216" y="2340864"/>
            <a:ext cx="202082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Gross Sales</a:t>
            </a:r>
            <a:endParaRPr lang="en-US" sz="1250" dirty="0"/>
          </a:p>
        </p:txBody>
      </p:sp>
      <p:sp>
        <p:nvSpPr>
          <p:cNvPr id="7" name="Text 5"/>
          <p:cNvSpPr/>
          <p:nvPr/>
        </p:nvSpPr>
        <p:spPr>
          <a:xfrm>
            <a:off x="621792" y="2651760"/>
            <a:ext cx="1947672" cy="457200"/>
          </a:xfrm>
          <a:prstGeom prst="rect">
            <a:avLst/>
          </a:prstGeom>
          <a:noFill/>
          <a:ln/>
        </p:spPr>
        <p:txBody>
          <a:bodyPr wrap="square" lIns="0" tIns="0" rIns="0" bIns="0" rtlCol="0" anchor="ctr"/>
          <a:lstStyle/>
          <a:p>
            <a:pPr algn="ctr" indent="0" marL="0">
              <a:buNone/>
            </a:pPr>
            <a:r>
              <a:rPr lang="en-US" sz="1000" i="1" dirty="0">
                <a:solidFill>
                  <a:srgbClr val="5A6472"/>
                </a:solidFill>
                <a:latin typeface="Calibri" pitchFamily="34" charset="0"/>
                <a:ea typeface="Calibri" pitchFamily="34" charset="-122"/>
                <a:cs typeface="Calibri" pitchFamily="34" charset="-120"/>
              </a:rPr>
              <a:t>units × list price</a:t>
            </a:r>
            <a:endParaRPr lang="en-US" sz="1000" dirty="0"/>
          </a:p>
        </p:txBody>
      </p:sp>
      <p:sp>
        <p:nvSpPr>
          <p:cNvPr id="8" name="Text 6"/>
          <p:cNvSpPr/>
          <p:nvPr/>
        </p:nvSpPr>
        <p:spPr>
          <a:xfrm>
            <a:off x="2628900" y="2377440"/>
            <a:ext cx="182880" cy="274320"/>
          </a:xfrm>
          <a:prstGeom prst="rect">
            <a:avLst/>
          </a:prstGeom>
          <a:noFill/>
          <a:ln/>
        </p:spPr>
        <p:txBody>
          <a:bodyPr wrap="square" lIns="0" tIns="0" rIns="0" bIns="0" rtlCol="0" anchor="ctr"/>
          <a:lstStyle/>
          <a:p>
            <a:pPr algn="ctr" indent="0" marL="0">
              <a:buNone/>
            </a:pPr>
            <a:r>
              <a:rPr lang="en-US" sz="1800" b="1" dirty="0">
                <a:solidFill>
                  <a:srgbClr val="9AA3B2"/>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816352" y="1645920"/>
            <a:ext cx="2057400" cy="1755648"/>
          </a:xfrm>
          <a:prstGeom prst="roundRect">
            <a:avLst>
              <a:gd name="adj" fmla="val 3646"/>
            </a:avLst>
          </a:prstGeom>
          <a:solidFill>
            <a:srgbClr val="E8EDF9"/>
          </a:solidFill>
          <a:ln/>
          <a:effectLst>
            <a:outerShdw sx="100000" sy="100000" kx="0" ky="0" algn="bl" rotWithShape="0" blurRad="127000" dist="25400" dir="5400000">
              <a:srgbClr val="1E2761">
                <a:alpha val="13000"/>
              </a:srgbClr>
            </a:outerShdw>
          </a:effectLst>
        </p:spPr>
      </p:sp>
      <p:sp>
        <p:nvSpPr>
          <p:cNvPr id="10" name="Text 8"/>
          <p:cNvSpPr/>
          <p:nvPr/>
        </p:nvSpPr>
        <p:spPr>
          <a:xfrm>
            <a:off x="2834640" y="1847088"/>
            <a:ext cx="2020824" cy="475488"/>
          </a:xfrm>
          <a:prstGeom prst="rect">
            <a:avLst/>
          </a:prstGeom>
          <a:noFill/>
          <a:ln/>
        </p:spPr>
        <p:txBody>
          <a:bodyPr wrap="square" lIns="0" tIns="0" rIns="0" bIns="0" rtlCol="0" anchor="ctr"/>
          <a:lstStyle/>
          <a:p>
            <a:pPr algn="ctr" indent="0" marL="0">
              <a:buNone/>
            </a:pPr>
            <a:r>
              <a:rPr lang="en-US" sz="1900" b="1" dirty="0">
                <a:solidFill>
                  <a:srgbClr val="E8A33D"/>
                </a:solidFill>
                <a:latin typeface="Cambria" pitchFamily="34" charset="0"/>
                <a:ea typeface="Cambria" pitchFamily="34" charset="-122"/>
                <a:cs typeface="Cambria" pitchFamily="34" charset="-120"/>
              </a:rPr>
              <a:t>–$9.21 M</a:t>
            </a:r>
            <a:endParaRPr lang="en-US" sz="1900" dirty="0"/>
          </a:p>
        </p:txBody>
      </p:sp>
      <p:sp>
        <p:nvSpPr>
          <p:cNvPr id="11" name="Text 9"/>
          <p:cNvSpPr/>
          <p:nvPr/>
        </p:nvSpPr>
        <p:spPr>
          <a:xfrm>
            <a:off x="2834640" y="2340864"/>
            <a:ext cx="202082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Discounts</a:t>
            </a:r>
            <a:endParaRPr lang="en-US" sz="1250" dirty="0"/>
          </a:p>
        </p:txBody>
      </p:sp>
      <p:sp>
        <p:nvSpPr>
          <p:cNvPr id="12" name="Text 10"/>
          <p:cNvSpPr/>
          <p:nvPr/>
        </p:nvSpPr>
        <p:spPr>
          <a:xfrm>
            <a:off x="2871216" y="2651760"/>
            <a:ext cx="1947672" cy="457200"/>
          </a:xfrm>
          <a:prstGeom prst="rect">
            <a:avLst/>
          </a:prstGeom>
          <a:noFill/>
          <a:ln/>
        </p:spPr>
        <p:txBody>
          <a:bodyPr wrap="square" lIns="0" tIns="0" rIns="0" bIns="0" rtlCol="0" anchor="ctr"/>
          <a:lstStyle/>
          <a:p>
            <a:pPr algn="ctr" indent="0" marL="0">
              <a:buNone/>
            </a:pPr>
            <a:r>
              <a:rPr lang="en-US" sz="1000" i="1" dirty="0">
                <a:solidFill>
                  <a:srgbClr val="5A6472"/>
                </a:solidFill>
                <a:latin typeface="Calibri" pitchFamily="34" charset="0"/>
                <a:ea typeface="Calibri" pitchFamily="34" charset="-122"/>
                <a:cs typeface="Calibri" pitchFamily="34" charset="-120"/>
              </a:rPr>
              <a:t>7.2% of gross</a:t>
            </a:r>
            <a:endParaRPr lang="en-US" sz="1000" dirty="0"/>
          </a:p>
        </p:txBody>
      </p:sp>
      <p:sp>
        <p:nvSpPr>
          <p:cNvPr id="13" name="Text 11"/>
          <p:cNvSpPr/>
          <p:nvPr/>
        </p:nvSpPr>
        <p:spPr>
          <a:xfrm>
            <a:off x="4878324" y="2377440"/>
            <a:ext cx="182880" cy="274320"/>
          </a:xfrm>
          <a:prstGeom prst="rect">
            <a:avLst/>
          </a:prstGeom>
          <a:noFill/>
          <a:ln/>
        </p:spPr>
        <p:txBody>
          <a:bodyPr wrap="square" lIns="0" tIns="0" rIns="0" bIns="0" rtlCol="0" anchor="ctr"/>
          <a:lstStyle/>
          <a:p>
            <a:pPr algn="ctr" indent="0" marL="0">
              <a:buNone/>
            </a:pPr>
            <a:r>
              <a:rPr lang="en-US" sz="1800" b="1" dirty="0">
                <a:solidFill>
                  <a:srgbClr val="9AA3B2"/>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5065776" y="1645920"/>
            <a:ext cx="2057400" cy="1755648"/>
          </a:xfrm>
          <a:prstGeom prst="roundRect">
            <a:avLst>
              <a:gd name="adj" fmla="val 3646"/>
            </a:avLst>
          </a:prstGeom>
          <a:solidFill>
            <a:srgbClr val="1E2761"/>
          </a:solidFill>
          <a:ln/>
          <a:effectLst>
            <a:outerShdw sx="100000" sy="100000" kx="0" ky="0" algn="bl" rotWithShape="0" blurRad="127000" dist="25400" dir="5400000">
              <a:srgbClr val="1E2761">
                <a:alpha val="13000"/>
              </a:srgbClr>
            </a:outerShdw>
          </a:effectLst>
        </p:spPr>
      </p:sp>
      <p:sp>
        <p:nvSpPr>
          <p:cNvPr id="15" name="Text 13"/>
          <p:cNvSpPr/>
          <p:nvPr/>
        </p:nvSpPr>
        <p:spPr>
          <a:xfrm>
            <a:off x="5084064" y="1847088"/>
            <a:ext cx="2020824"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$118.73 M</a:t>
            </a:r>
            <a:endParaRPr lang="en-US" sz="1900" dirty="0"/>
          </a:p>
        </p:txBody>
      </p:sp>
      <p:sp>
        <p:nvSpPr>
          <p:cNvPr id="16" name="Text 14"/>
          <p:cNvSpPr/>
          <p:nvPr/>
        </p:nvSpPr>
        <p:spPr>
          <a:xfrm>
            <a:off x="5084064" y="2340864"/>
            <a:ext cx="2020824" cy="274320"/>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Net Sales</a:t>
            </a:r>
            <a:endParaRPr lang="en-US" sz="1250" dirty="0"/>
          </a:p>
        </p:txBody>
      </p:sp>
      <p:sp>
        <p:nvSpPr>
          <p:cNvPr id="17" name="Text 15"/>
          <p:cNvSpPr/>
          <p:nvPr/>
        </p:nvSpPr>
        <p:spPr>
          <a:xfrm>
            <a:off x="5120640" y="2651760"/>
            <a:ext cx="1947672" cy="457200"/>
          </a:xfrm>
          <a:prstGeom prst="rect">
            <a:avLst/>
          </a:prstGeom>
          <a:noFill/>
          <a:ln/>
        </p:spPr>
        <p:txBody>
          <a:bodyPr wrap="square" lIns="0" tIns="0" rIns="0" bIns="0" rtlCol="0" anchor="ctr"/>
          <a:lstStyle/>
          <a:p>
            <a:pPr algn="ctr" indent="0" marL="0">
              <a:buNone/>
            </a:pPr>
            <a:r>
              <a:rPr lang="en-US" sz="1000" i="1" dirty="0">
                <a:solidFill>
                  <a:srgbClr val="9AA3B2"/>
                </a:solidFill>
                <a:latin typeface="Calibri" pitchFamily="34" charset="0"/>
                <a:ea typeface="Calibri" pitchFamily="34" charset="-122"/>
                <a:cs typeface="Calibri" pitchFamily="34" charset="-120"/>
              </a:rPr>
              <a:t>the headline figure</a:t>
            </a:r>
            <a:endParaRPr lang="en-US" sz="1000" dirty="0"/>
          </a:p>
        </p:txBody>
      </p:sp>
      <p:sp>
        <p:nvSpPr>
          <p:cNvPr id="18" name="Text 16"/>
          <p:cNvSpPr/>
          <p:nvPr/>
        </p:nvSpPr>
        <p:spPr>
          <a:xfrm>
            <a:off x="7127748" y="2377440"/>
            <a:ext cx="182880" cy="274320"/>
          </a:xfrm>
          <a:prstGeom prst="rect">
            <a:avLst/>
          </a:prstGeom>
          <a:noFill/>
          <a:ln/>
        </p:spPr>
        <p:txBody>
          <a:bodyPr wrap="square" lIns="0" tIns="0" rIns="0" bIns="0" rtlCol="0" anchor="ctr"/>
          <a:lstStyle/>
          <a:p>
            <a:pPr algn="ctr" indent="0" marL="0">
              <a:buNone/>
            </a:pPr>
            <a:r>
              <a:rPr lang="en-US" sz="1800" b="1" dirty="0">
                <a:solidFill>
                  <a:srgbClr val="9AA3B2"/>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315200" y="1645920"/>
            <a:ext cx="2057400" cy="1755648"/>
          </a:xfrm>
          <a:prstGeom prst="roundRect">
            <a:avLst>
              <a:gd name="adj" fmla="val 3646"/>
            </a:avLst>
          </a:prstGeom>
          <a:solidFill>
            <a:srgbClr val="E8EDF9"/>
          </a:solidFill>
          <a:ln/>
          <a:effectLst>
            <a:outerShdw sx="100000" sy="100000" kx="0" ky="0" algn="bl" rotWithShape="0" blurRad="127000" dist="25400" dir="5400000">
              <a:srgbClr val="1E2761">
                <a:alpha val="13000"/>
              </a:srgbClr>
            </a:outerShdw>
          </a:effectLst>
        </p:spPr>
      </p:sp>
      <p:sp>
        <p:nvSpPr>
          <p:cNvPr id="20" name="Text 18"/>
          <p:cNvSpPr/>
          <p:nvPr/>
        </p:nvSpPr>
        <p:spPr>
          <a:xfrm>
            <a:off x="7333488" y="1847088"/>
            <a:ext cx="2020824" cy="475488"/>
          </a:xfrm>
          <a:prstGeom prst="rect">
            <a:avLst/>
          </a:prstGeom>
          <a:noFill/>
          <a:ln/>
        </p:spPr>
        <p:txBody>
          <a:bodyPr wrap="square" lIns="0" tIns="0" rIns="0" bIns="0" rtlCol="0" anchor="ctr"/>
          <a:lstStyle/>
          <a:p>
            <a:pPr algn="ctr" indent="0" marL="0">
              <a:buNone/>
            </a:pPr>
            <a:r>
              <a:rPr lang="en-US" sz="1900" b="1" dirty="0">
                <a:solidFill>
                  <a:srgbClr val="C0392B"/>
                </a:solidFill>
                <a:latin typeface="Cambria" pitchFamily="34" charset="0"/>
                <a:ea typeface="Cambria" pitchFamily="34" charset="-122"/>
                <a:cs typeface="Cambria" pitchFamily="34" charset="-120"/>
              </a:rPr>
              <a:t>–$101.83 M</a:t>
            </a:r>
            <a:endParaRPr lang="en-US" sz="1900" dirty="0"/>
          </a:p>
        </p:txBody>
      </p:sp>
      <p:sp>
        <p:nvSpPr>
          <p:cNvPr id="21" name="Text 19"/>
          <p:cNvSpPr/>
          <p:nvPr/>
        </p:nvSpPr>
        <p:spPr>
          <a:xfrm>
            <a:off x="7333488" y="2340864"/>
            <a:ext cx="202082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COGS</a:t>
            </a:r>
            <a:endParaRPr lang="en-US" sz="1250" dirty="0"/>
          </a:p>
        </p:txBody>
      </p:sp>
      <p:sp>
        <p:nvSpPr>
          <p:cNvPr id="22" name="Text 20"/>
          <p:cNvSpPr/>
          <p:nvPr/>
        </p:nvSpPr>
        <p:spPr>
          <a:xfrm>
            <a:off x="7370064" y="2651760"/>
            <a:ext cx="1947672" cy="457200"/>
          </a:xfrm>
          <a:prstGeom prst="rect">
            <a:avLst/>
          </a:prstGeom>
          <a:noFill/>
          <a:ln/>
        </p:spPr>
        <p:txBody>
          <a:bodyPr wrap="square" lIns="0" tIns="0" rIns="0" bIns="0" rtlCol="0" anchor="ctr"/>
          <a:lstStyle/>
          <a:p>
            <a:pPr algn="ctr" indent="0" marL="0">
              <a:buNone/>
            </a:pPr>
            <a:r>
              <a:rPr lang="en-US" sz="1000" i="1" dirty="0">
                <a:solidFill>
                  <a:srgbClr val="5A6472"/>
                </a:solidFill>
                <a:latin typeface="Calibri" pitchFamily="34" charset="0"/>
                <a:ea typeface="Calibri" pitchFamily="34" charset="-122"/>
                <a:cs typeface="Calibri" pitchFamily="34" charset="-120"/>
              </a:rPr>
              <a:t>85.8% of net sales</a:t>
            </a:r>
            <a:endParaRPr lang="en-US" sz="1000" dirty="0"/>
          </a:p>
        </p:txBody>
      </p:sp>
      <p:sp>
        <p:nvSpPr>
          <p:cNvPr id="23" name="Text 21"/>
          <p:cNvSpPr/>
          <p:nvPr/>
        </p:nvSpPr>
        <p:spPr>
          <a:xfrm>
            <a:off x="9377172" y="2377440"/>
            <a:ext cx="182880" cy="274320"/>
          </a:xfrm>
          <a:prstGeom prst="rect">
            <a:avLst/>
          </a:prstGeom>
          <a:noFill/>
          <a:ln/>
        </p:spPr>
        <p:txBody>
          <a:bodyPr wrap="square" lIns="0" tIns="0" rIns="0" bIns="0" rtlCol="0" anchor="ctr"/>
          <a:lstStyle/>
          <a:p>
            <a:pPr algn="ctr" indent="0" marL="0">
              <a:buNone/>
            </a:pPr>
            <a:r>
              <a:rPr lang="en-US" sz="1800" b="1" dirty="0">
                <a:solidFill>
                  <a:srgbClr val="9AA3B2"/>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9564624" y="1645920"/>
            <a:ext cx="2057400" cy="1755648"/>
          </a:xfrm>
          <a:prstGeom prst="roundRect">
            <a:avLst>
              <a:gd name="adj" fmla="val 3646"/>
            </a:avLst>
          </a:prstGeom>
          <a:solidFill>
            <a:srgbClr val="1E2761"/>
          </a:solidFill>
          <a:ln/>
          <a:effectLst>
            <a:outerShdw sx="100000" sy="100000" kx="0" ky="0" algn="bl" rotWithShape="0" blurRad="127000" dist="25400" dir="5400000">
              <a:srgbClr val="1E2761">
                <a:alpha val="13000"/>
              </a:srgbClr>
            </a:outerShdw>
          </a:effectLst>
        </p:spPr>
      </p:sp>
      <p:sp>
        <p:nvSpPr>
          <p:cNvPr id="25" name="Text 23"/>
          <p:cNvSpPr/>
          <p:nvPr/>
        </p:nvSpPr>
        <p:spPr>
          <a:xfrm>
            <a:off x="9582912" y="1847088"/>
            <a:ext cx="2020824"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$16.89 M</a:t>
            </a:r>
            <a:endParaRPr lang="en-US" sz="1900" dirty="0"/>
          </a:p>
        </p:txBody>
      </p:sp>
      <p:sp>
        <p:nvSpPr>
          <p:cNvPr id="26" name="Text 24"/>
          <p:cNvSpPr/>
          <p:nvPr/>
        </p:nvSpPr>
        <p:spPr>
          <a:xfrm>
            <a:off x="9582912" y="2340864"/>
            <a:ext cx="2020824" cy="274320"/>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Profit</a:t>
            </a:r>
            <a:endParaRPr lang="en-US" sz="1250" dirty="0"/>
          </a:p>
        </p:txBody>
      </p:sp>
      <p:sp>
        <p:nvSpPr>
          <p:cNvPr id="27" name="Text 25"/>
          <p:cNvSpPr/>
          <p:nvPr/>
        </p:nvSpPr>
        <p:spPr>
          <a:xfrm>
            <a:off x="9619488" y="2651760"/>
            <a:ext cx="1947672" cy="457200"/>
          </a:xfrm>
          <a:prstGeom prst="rect">
            <a:avLst/>
          </a:prstGeom>
          <a:noFill/>
          <a:ln/>
        </p:spPr>
        <p:txBody>
          <a:bodyPr wrap="square" lIns="0" tIns="0" rIns="0" bIns="0" rtlCol="0" anchor="ctr"/>
          <a:lstStyle/>
          <a:p>
            <a:pPr algn="ctr" indent="0" marL="0">
              <a:buNone/>
            </a:pPr>
            <a:r>
              <a:rPr lang="en-US" sz="1000" i="1" dirty="0">
                <a:solidFill>
                  <a:srgbClr val="9AA3B2"/>
                </a:solidFill>
                <a:latin typeface="Calibri" pitchFamily="34" charset="0"/>
                <a:ea typeface="Calibri" pitchFamily="34" charset="-122"/>
                <a:cs typeface="Calibri" pitchFamily="34" charset="-120"/>
              </a:rPr>
              <a:t>14.23% margin</a:t>
            </a:r>
            <a:endParaRPr lang="en-US" sz="1000" dirty="0"/>
          </a:p>
        </p:txBody>
      </p:sp>
      <p:sp>
        <p:nvSpPr>
          <p:cNvPr id="28" name="Text 26"/>
          <p:cNvSpPr/>
          <p:nvPr/>
        </p:nvSpPr>
        <p:spPr>
          <a:xfrm>
            <a:off x="566928" y="3877056"/>
            <a:ext cx="11057839"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Why net sales, and not gross, is the headline number</a:t>
            </a:r>
            <a:endParaRPr lang="en-US" sz="1900" dirty="0"/>
          </a:p>
        </p:txBody>
      </p:sp>
      <p:sp>
        <p:nvSpPr>
          <p:cNvPr id="29" name="Text 27"/>
          <p:cNvSpPr/>
          <p:nvPr/>
        </p:nvSpPr>
        <p:spPr>
          <a:xfrm>
            <a:off x="566928" y="4315968"/>
            <a:ext cx="7406640" cy="100584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Gross sales is $127.9 M and it looks better. It is also money that was never collected — $9.2 M of it was discounted away before it reached the business. Leading with gross would flatter the result and hide the discount problem that turns out to be one of this report's central findings.</a:t>
            </a:r>
            <a:endParaRPr lang="en-US" sz="1350" dirty="0"/>
          </a:p>
        </p:txBody>
      </p:sp>
      <p:sp>
        <p:nvSpPr>
          <p:cNvPr id="30" name="Shape 28"/>
          <p:cNvSpPr/>
          <p:nvPr/>
        </p:nvSpPr>
        <p:spPr>
          <a:xfrm>
            <a:off x="8339328" y="3877056"/>
            <a:ext cx="3285439" cy="1572768"/>
          </a:xfrm>
          <a:prstGeom prst="roundRect">
            <a:avLst>
              <a:gd name="adj" fmla="val 4070"/>
            </a:avLst>
          </a:prstGeom>
          <a:solidFill>
            <a:srgbClr val="E8EDF9"/>
          </a:solidFill>
          <a:ln/>
          <a:effectLst>
            <a:outerShdw sx="100000" sy="100000" kx="0" ky="0" algn="bl" rotWithShape="0" blurRad="127000" dist="25400" dir="5400000">
              <a:srgbClr val="1E2761">
                <a:alpha val="13000"/>
              </a:srgbClr>
            </a:outerShdw>
          </a:effectLst>
        </p:spPr>
      </p:sp>
      <p:sp>
        <p:nvSpPr>
          <p:cNvPr id="31" name="Text 29"/>
          <p:cNvSpPr/>
          <p:nvPr/>
        </p:nvSpPr>
        <p:spPr>
          <a:xfrm>
            <a:off x="8430768" y="4096512"/>
            <a:ext cx="3102559" cy="45720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1,125,806</a:t>
            </a:r>
            <a:endParaRPr lang="en-US" sz="2600" dirty="0"/>
          </a:p>
        </p:txBody>
      </p:sp>
      <p:sp>
        <p:nvSpPr>
          <p:cNvPr id="32" name="Text 30"/>
          <p:cNvSpPr/>
          <p:nvPr/>
        </p:nvSpPr>
        <p:spPr>
          <a:xfrm>
            <a:off x="8430768" y="4553712"/>
            <a:ext cx="3102559" cy="256032"/>
          </a:xfrm>
          <a:prstGeom prst="rect">
            <a:avLst/>
          </a:prstGeom>
          <a:noFill/>
          <a:ln/>
        </p:spPr>
        <p:txBody>
          <a:bodyPr wrap="square" lIns="0" tIns="0" rIns="0" bIns="0" rtlCol="0" anchor="ctr"/>
          <a:lstStyle/>
          <a:p>
            <a:pPr algn="ctr" indent="0" marL="0">
              <a:buNone/>
            </a:pPr>
            <a:r>
              <a:rPr lang="en-US" sz="1200" dirty="0">
                <a:solidFill>
                  <a:srgbClr val="5A6472"/>
                </a:solidFill>
                <a:latin typeface="Calibri" pitchFamily="34" charset="0"/>
                <a:ea typeface="Calibri" pitchFamily="34" charset="-122"/>
                <a:cs typeface="Calibri" pitchFamily="34" charset="-120"/>
              </a:rPr>
              <a:t>units sold</a:t>
            </a:r>
            <a:endParaRPr lang="en-US" sz="1200" dirty="0"/>
          </a:p>
        </p:txBody>
      </p:sp>
      <p:sp>
        <p:nvSpPr>
          <p:cNvPr id="33" name="Text 31"/>
          <p:cNvSpPr/>
          <p:nvPr/>
        </p:nvSpPr>
        <p:spPr>
          <a:xfrm>
            <a:off x="8430768" y="4901184"/>
            <a:ext cx="3102559" cy="292608"/>
          </a:xfrm>
          <a:prstGeom prst="rect">
            <a:avLst/>
          </a:prstGeom>
          <a:noFill/>
          <a:ln/>
        </p:spPr>
        <p:txBody>
          <a:bodyPr wrap="square" lIns="0" tIns="0" rIns="0" bIns="0" rtlCol="0" anchor="ctr"/>
          <a:lstStyle/>
          <a:p>
            <a:pPr algn="ctr" indent="0" marL="0">
              <a:buNone/>
            </a:pPr>
            <a:r>
              <a:rPr lang="en-US" sz="1250" b="1" dirty="0">
                <a:solidFill>
                  <a:srgbClr val="00A896"/>
                </a:solidFill>
                <a:latin typeface="Calibri" pitchFamily="34" charset="0"/>
                <a:ea typeface="Calibri" pitchFamily="34" charset="-122"/>
                <a:cs typeface="Calibri" pitchFamily="34" charset="-120"/>
              </a:rPr>
              <a:t>$15.01 profit per unit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SEGMENT MIX</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Government drives 44% of revenue — at the second-best margin</a:t>
            </a:r>
            <a:endParaRPr lang="en-US" sz="2600" dirty="0"/>
          </a:p>
        </p:txBody>
      </p:sp>
      <p:graphicFrame>
        <p:nvGraphicFramePr>
          <p:cNvPr id="4" name="Chart 0" descr=""/>
          <p:cNvGraphicFramePr/>
          <p:nvPr/>
        </p:nvGraphicFramePr>
        <p:xfrm>
          <a:off x="566928" y="155448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754112" y="1554480"/>
            <a:ext cx="3870655" cy="292608"/>
          </a:xfrm>
          <a:prstGeom prst="rect">
            <a:avLst/>
          </a:prstGeom>
          <a:noFill/>
          <a:ln/>
        </p:spPr>
        <p:txBody>
          <a:bodyPr wrap="square" lIns="0" tIns="0" rIns="0" bIns="0" rtlCol="0" anchor="ctr"/>
          <a:lstStyle/>
          <a:p>
            <a:pPr indent="0" marL="0">
              <a:buNone/>
            </a:pPr>
            <a:r>
              <a:rPr lang="en-US" sz="1100" b="1" spc="150" kern="0" dirty="0">
                <a:solidFill>
                  <a:srgbClr val="3C5BA9"/>
                </a:solidFill>
                <a:latin typeface="Calibri" pitchFamily="34" charset="0"/>
                <a:ea typeface="Calibri" pitchFamily="34" charset="-122"/>
                <a:cs typeface="Calibri" pitchFamily="34" charset="-120"/>
              </a:rPr>
              <a:t>What the ranking hides</a:t>
            </a:r>
            <a:endParaRPr lang="en-US" sz="1100" dirty="0"/>
          </a:p>
        </p:txBody>
      </p:sp>
      <p:sp>
        <p:nvSpPr>
          <p:cNvPr id="6" name="Shape 3"/>
          <p:cNvSpPr/>
          <p:nvPr/>
        </p:nvSpPr>
        <p:spPr>
          <a:xfrm>
            <a:off x="7754112" y="1956816"/>
            <a:ext cx="3870655" cy="1170432"/>
          </a:xfrm>
          <a:prstGeom prst="roundRect">
            <a:avLst>
              <a:gd name="adj" fmla="val 5469"/>
            </a:avLst>
          </a:prstGeom>
          <a:solidFill>
            <a:srgbClr val="E8EDF9"/>
          </a:solidFill>
          <a:ln/>
          <a:effectLst>
            <a:outerShdw sx="100000" sy="100000" kx="0" ky="0" algn="bl" rotWithShape="0" blurRad="127000" dist="25400" dir="5400000">
              <a:srgbClr val="1E2761">
                <a:alpha val="13000"/>
              </a:srgbClr>
            </a:outerShdw>
          </a:effectLst>
        </p:spPr>
      </p:sp>
      <p:sp>
        <p:nvSpPr>
          <p:cNvPr id="7" name="Shape 4"/>
          <p:cNvSpPr/>
          <p:nvPr/>
        </p:nvSpPr>
        <p:spPr>
          <a:xfrm>
            <a:off x="7973568" y="2231136"/>
            <a:ext cx="146304" cy="146304"/>
          </a:xfrm>
          <a:prstGeom prst="ellipse">
            <a:avLst/>
          </a:prstGeom>
          <a:solidFill>
            <a:srgbClr val="00A896"/>
          </a:solidFill>
          <a:ln/>
        </p:spPr>
      </p:sp>
      <p:sp>
        <p:nvSpPr>
          <p:cNvPr id="8" name="Text 5"/>
          <p:cNvSpPr/>
          <p:nvPr/>
        </p:nvSpPr>
        <p:spPr>
          <a:xfrm>
            <a:off x="8211312" y="2139696"/>
            <a:ext cx="3193999"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Volume and margin agree at the top</a:t>
            </a:r>
            <a:endParaRPr lang="en-US" sz="1200" dirty="0"/>
          </a:p>
        </p:txBody>
      </p:sp>
      <p:sp>
        <p:nvSpPr>
          <p:cNvPr id="9" name="Text 6"/>
          <p:cNvSpPr/>
          <p:nvPr/>
        </p:nvSpPr>
        <p:spPr>
          <a:xfrm>
            <a:off x="8211312" y="2414016"/>
            <a:ext cx="3193999" cy="65836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Government is both the largest segment and the second-most profitable at 21.7%. Most businesses have to trade one for the other.</a:t>
            </a:r>
            <a:endParaRPr lang="en-US" sz="1050" dirty="0"/>
          </a:p>
        </p:txBody>
      </p:sp>
      <p:sp>
        <p:nvSpPr>
          <p:cNvPr id="10" name="Shape 7"/>
          <p:cNvSpPr/>
          <p:nvPr/>
        </p:nvSpPr>
        <p:spPr>
          <a:xfrm>
            <a:off x="7754112" y="3273552"/>
            <a:ext cx="3870655" cy="1170432"/>
          </a:xfrm>
          <a:prstGeom prst="roundRect">
            <a:avLst>
              <a:gd name="adj" fmla="val 5469"/>
            </a:avLst>
          </a:prstGeom>
          <a:solidFill>
            <a:srgbClr val="E8EDF9"/>
          </a:solidFill>
          <a:ln/>
          <a:effectLst>
            <a:outerShdw sx="100000" sy="100000" kx="0" ky="0" algn="bl" rotWithShape="0" blurRad="127000" dist="25400" dir="5400000">
              <a:srgbClr val="1E2761">
                <a:alpha val="13000"/>
              </a:srgbClr>
            </a:outerShdw>
          </a:effectLst>
        </p:spPr>
      </p:sp>
      <p:sp>
        <p:nvSpPr>
          <p:cNvPr id="11" name="Shape 8"/>
          <p:cNvSpPr/>
          <p:nvPr/>
        </p:nvSpPr>
        <p:spPr>
          <a:xfrm>
            <a:off x="7973568" y="3547872"/>
            <a:ext cx="146304" cy="146304"/>
          </a:xfrm>
          <a:prstGeom prst="ellipse">
            <a:avLst/>
          </a:prstGeom>
          <a:solidFill>
            <a:srgbClr val="C0392B"/>
          </a:solidFill>
          <a:ln/>
        </p:spPr>
      </p:sp>
      <p:sp>
        <p:nvSpPr>
          <p:cNvPr id="12" name="Text 9"/>
          <p:cNvSpPr/>
          <p:nvPr/>
        </p:nvSpPr>
        <p:spPr>
          <a:xfrm>
            <a:off x="8211312" y="3456432"/>
            <a:ext cx="3193999"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Third by revenue, last by profit</a:t>
            </a:r>
            <a:endParaRPr lang="en-US" sz="1200" dirty="0"/>
          </a:p>
        </p:txBody>
      </p:sp>
      <p:sp>
        <p:nvSpPr>
          <p:cNvPr id="13" name="Text 10"/>
          <p:cNvSpPr/>
          <p:nvPr/>
        </p:nvSpPr>
        <p:spPr>
          <a:xfrm>
            <a:off x="8211312" y="3730752"/>
            <a:ext cx="3193999" cy="65836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Enterprise looks healthy on this chart. It lost $0.61 M.</a:t>
            </a:r>
            <a:endParaRPr lang="en-US" sz="1050" dirty="0"/>
          </a:p>
        </p:txBody>
      </p:sp>
      <p:sp>
        <p:nvSpPr>
          <p:cNvPr id="14" name="Shape 11"/>
          <p:cNvSpPr/>
          <p:nvPr/>
        </p:nvSpPr>
        <p:spPr>
          <a:xfrm>
            <a:off x="7754112" y="4590288"/>
            <a:ext cx="3870655" cy="1170432"/>
          </a:xfrm>
          <a:prstGeom prst="roundRect">
            <a:avLst>
              <a:gd name="adj" fmla="val 5469"/>
            </a:avLst>
          </a:prstGeom>
          <a:solidFill>
            <a:srgbClr val="E8EDF9"/>
          </a:solidFill>
          <a:ln/>
          <a:effectLst>
            <a:outerShdw sx="100000" sy="100000" kx="0" ky="0" algn="bl" rotWithShape="0" blurRad="127000" dist="25400" dir="5400000">
              <a:srgbClr val="1E2761">
                <a:alpha val="13000"/>
              </a:srgbClr>
            </a:outerShdw>
          </a:effectLst>
        </p:spPr>
      </p:sp>
      <p:sp>
        <p:nvSpPr>
          <p:cNvPr id="15" name="Shape 12"/>
          <p:cNvSpPr/>
          <p:nvPr/>
        </p:nvSpPr>
        <p:spPr>
          <a:xfrm>
            <a:off x="7973568" y="4864608"/>
            <a:ext cx="146304" cy="146304"/>
          </a:xfrm>
          <a:prstGeom prst="ellipse">
            <a:avLst/>
          </a:prstGeom>
          <a:solidFill>
            <a:srgbClr val="E8A33D"/>
          </a:solidFill>
          <a:ln/>
        </p:spPr>
      </p:sp>
      <p:sp>
        <p:nvSpPr>
          <p:cNvPr id="16" name="Text 13"/>
          <p:cNvSpPr/>
          <p:nvPr/>
        </p:nvSpPr>
        <p:spPr>
          <a:xfrm>
            <a:off x="8211312" y="4773168"/>
            <a:ext cx="3193999"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Best margin, smallest base</a:t>
            </a:r>
            <a:endParaRPr lang="en-US" sz="1200" dirty="0"/>
          </a:p>
        </p:txBody>
      </p:sp>
      <p:sp>
        <p:nvSpPr>
          <p:cNvPr id="17" name="Text 14"/>
          <p:cNvSpPr/>
          <p:nvPr/>
        </p:nvSpPr>
        <p:spPr>
          <a:xfrm>
            <a:off x="8211312" y="5047488"/>
            <a:ext cx="3193999" cy="65836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Channel Partners returns 73.1% on 1.5% of revenue.</a:t>
            </a:r>
            <a:endParaRPr lang="en-US" sz="1050" dirty="0"/>
          </a:p>
        </p:txBody>
      </p:sp>
      <p:sp>
        <p:nvSpPr>
          <p:cNvPr id="18" name="Text 15"/>
          <p:cNvSpPr/>
          <p:nvPr/>
        </p:nvSpPr>
        <p:spPr>
          <a:xfrm>
            <a:off x="566928" y="5888736"/>
            <a:ext cx="11057839" cy="36576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Revenue-only views are how a loss-making segment stays invisible — which is why every revenue figure in this report is paired with its margin.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100" b="1" spc="300" kern="0" dirty="0">
                <a:solidFill>
                  <a:srgbClr val="00A896"/>
                </a:solidFill>
                <a:latin typeface="Calibri" pitchFamily="34" charset="0"/>
                <a:ea typeface="Calibri" pitchFamily="34" charset="-122"/>
                <a:cs typeface="Calibri" pitchFamily="34" charset="-120"/>
              </a:rPr>
              <a:t>FINDING 01</a:t>
            </a:r>
            <a:endParaRPr lang="en-US" sz="1100" dirty="0"/>
          </a:p>
        </p:txBody>
      </p:sp>
      <p:sp>
        <p:nvSpPr>
          <p:cNvPr id="3" name="Text 1"/>
          <p:cNvSpPr/>
          <p:nvPr/>
        </p:nvSpPr>
        <p:spPr>
          <a:xfrm>
            <a:off x="566928" y="786384"/>
            <a:ext cx="804672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Enterprise sells below cost</a:t>
            </a:r>
            <a:endParaRPr lang="en-US" sz="3200" dirty="0"/>
          </a:p>
        </p:txBody>
      </p:sp>
      <p:sp>
        <p:nvSpPr>
          <p:cNvPr id="4" name="Text 2"/>
          <p:cNvSpPr/>
          <p:nvPr/>
        </p:nvSpPr>
        <p:spPr>
          <a:xfrm>
            <a:off x="566928" y="1463040"/>
            <a:ext cx="8046720" cy="7315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$19.6 M of net sales producing a loss of $0.61 M. Cost of goods runs at 103.1% of net sales against a company average of 85.8% — every order destroys value before a single overhead cost is applied.</a:t>
            </a:r>
            <a:endParaRPr lang="en-US" sz="1400" dirty="0"/>
          </a:p>
        </p:txBody>
      </p:sp>
      <p:sp>
        <p:nvSpPr>
          <p:cNvPr id="5" name="Text 3"/>
          <p:cNvSpPr/>
          <p:nvPr/>
        </p:nvSpPr>
        <p:spPr>
          <a:xfrm>
            <a:off x="566928" y="2743200"/>
            <a:ext cx="5852160" cy="274320"/>
          </a:xfrm>
          <a:prstGeom prst="rect">
            <a:avLst/>
          </a:prstGeom>
          <a:noFill/>
          <a:ln/>
        </p:spPr>
        <p:txBody>
          <a:bodyPr wrap="square" lIns="0" tIns="0" rIns="0" bIns="0" rtlCol="0" anchor="ctr"/>
          <a:lstStyle/>
          <a:p>
            <a:pPr indent="0" marL="0">
              <a:buNone/>
            </a:pPr>
            <a:r>
              <a:rPr lang="en-US" sz="1100" b="1" spc="120" kern="0" dirty="0">
                <a:solidFill>
                  <a:srgbClr val="9AA3B2"/>
                </a:solidFill>
                <a:latin typeface="Calibri" pitchFamily="34" charset="0"/>
                <a:ea typeface="Calibri" pitchFamily="34" charset="-122"/>
                <a:cs typeface="Calibri" pitchFamily="34" charset="-120"/>
              </a:rPr>
              <a:t>COGS as a share of net sales</a:t>
            </a:r>
            <a:endParaRPr lang="en-US" sz="1100" dirty="0"/>
          </a:p>
        </p:txBody>
      </p:sp>
      <p:sp>
        <p:nvSpPr>
          <p:cNvPr id="6" name="Text 4"/>
          <p:cNvSpPr/>
          <p:nvPr/>
        </p:nvSpPr>
        <p:spPr>
          <a:xfrm>
            <a:off x="566928" y="3200400"/>
            <a:ext cx="21031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Company average</a:t>
            </a:r>
            <a:endParaRPr lang="en-US" sz="1300" dirty="0"/>
          </a:p>
        </p:txBody>
      </p:sp>
      <p:sp>
        <p:nvSpPr>
          <p:cNvPr id="7" name="Shape 5"/>
          <p:cNvSpPr/>
          <p:nvPr/>
        </p:nvSpPr>
        <p:spPr>
          <a:xfrm>
            <a:off x="2761488" y="3246120"/>
            <a:ext cx="3291840" cy="256032"/>
          </a:xfrm>
          <a:prstGeom prst="roundRect">
            <a:avLst>
              <a:gd name="adj" fmla="val 17857"/>
            </a:avLst>
          </a:prstGeom>
          <a:solidFill>
            <a:srgbClr val="1E2761"/>
          </a:solidFill>
          <a:ln/>
        </p:spPr>
      </p:sp>
      <p:sp>
        <p:nvSpPr>
          <p:cNvPr id="8" name="Shape 6"/>
          <p:cNvSpPr/>
          <p:nvPr/>
        </p:nvSpPr>
        <p:spPr>
          <a:xfrm>
            <a:off x="2761488" y="3246120"/>
            <a:ext cx="2567635" cy="256032"/>
          </a:xfrm>
          <a:prstGeom prst="roundRect">
            <a:avLst>
              <a:gd name="adj" fmla="val 17857"/>
            </a:avLst>
          </a:prstGeom>
          <a:solidFill>
            <a:srgbClr val="3C5BA9"/>
          </a:solidFill>
          <a:ln/>
        </p:spPr>
      </p:sp>
      <p:sp>
        <p:nvSpPr>
          <p:cNvPr id="9" name="Text 7"/>
          <p:cNvSpPr/>
          <p:nvPr/>
        </p:nvSpPr>
        <p:spPr>
          <a:xfrm>
            <a:off x="6126480" y="3200400"/>
            <a:ext cx="822960" cy="310896"/>
          </a:xfrm>
          <a:prstGeom prst="rect">
            <a:avLst/>
          </a:prstGeom>
          <a:noFill/>
          <a:ln/>
        </p:spPr>
        <p:txBody>
          <a:bodyPr wrap="square" lIns="0" tIns="0" rIns="0" bIns="0" rtlCol="0" anchor="ctr"/>
          <a:lstStyle/>
          <a:p>
            <a:pPr indent="0" marL="0">
              <a:buNone/>
            </a:pPr>
            <a:r>
              <a:rPr lang="en-US" sz="1500" b="1" dirty="0">
                <a:solidFill>
                  <a:srgbClr val="CADCFC"/>
                </a:solidFill>
                <a:latin typeface="Cambria" pitchFamily="34" charset="0"/>
                <a:ea typeface="Cambria" pitchFamily="34" charset="-122"/>
                <a:cs typeface="Cambria" pitchFamily="34" charset="-120"/>
              </a:rPr>
              <a:t>85.8%</a:t>
            </a:r>
            <a:endParaRPr lang="en-US" sz="1500" dirty="0"/>
          </a:p>
        </p:txBody>
      </p:sp>
      <p:sp>
        <p:nvSpPr>
          <p:cNvPr id="10" name="Text 8"/>
          <p:cNvSpPr/>
          <p:nvPr/>
        </p:nvSpPr>
        <p:spPr>
          <a:xfrm>
            <a:off x="2761488" y="3547872"/>
            <a:ext cx="3291840" cy="237744"/>
          </a:xfrm>
          <a:prstGeom prst="rect">
            <a:avLst/>
          </a:prstGeom>
          <a:noFill/>
          <a:ln/>
        </p:spPr>
        <p:txBody>
          <a:bodyPr wrap="square" lIns="0" tIns="0" rIns="0" bIns="0" rtlCol="0" anchor="ctr"/>
          <a:lstStyle/>
          <a:p>
            <a:pPr indent="0" marL="0">
              <a:buNone/>
            </a:pPr>
            <a:r>
              <a:rPr lang="en-US" sz="1000" i="1" dirty="0">
                <a:solidFill>
                  <a:srgbClr val="9AA3B2"/>
                </a:solidFill>
                <a:latin typeface="Calibri" pitchFamily="34" charset="0"/>
                <a:ea typeface="Calibri" pitchFamily="34" charset="-122"/>
                <a:cs typeface="Calibri" pitchFamily="34" charset="-120"/>
              </a:rPr>
              <a:t>healthy</a:t>
            </a:r>
            <a:endParaRPr lang="en-US" sz="1000" dirty="0"/>
          </a:p>
        </p:txBody>
      </p:sp>
      <p:sp>
        <p:nvSpPr>
          <p:cNvPr id="11" name="Text 9"/>
          <p:cNvSpPr/>
          <p:nvPr/>
        </p:nvSpPr>
        <p:spPr>
          <a:xfrm>
            <a:off x="566928" y="4297680"/>
            <a:ext cx="21031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p:txBody>
      </p:sp>
      <p:sp>
        <p:nvSpPr>
          <p:cNvPr id="12" name="Shape 10"/>
          <p:cNvSpPr/>
          <p:nvPr/>
        </p:nvSpPr>
        <p:spPr>
          <a:xfrm>
            <a:off x="2761488" y="4343400"/>
            <a:ext cx="3291840" cy="256032"/>
          </a:xfrm>
          <a:prstGeom prst="roundRect">
            <a:avLst>
              <a:gd name="adj" fmla="val 17857"/>
            </a:avLst>
          </a:prstGeom>
          <a:solidFill>
            <a:srgbClr val="1E2761"/>
          </a:solidFill>
          <a:ln/>
        </p:spPr>
      </p:sp>
      <p:sp>
        <p:nvSpPr>
          <p:cNvPr id="13" name="Shape 11"/>
          <p:cNvSpPr/>
          <p:nvPr/>
        </p:nvSpPr>
        <p:spPr>
          <a:xfrm>
            <a:off x="2761488" y="4343400"/>
            <a:ext cx="3085352" cy="256032"/>
          </a:xfrm>
          <a:prstGeom prst="roundRect">
            <a:avLst>
              <a:gd name="adj" fmla="val 17857"/>
            </a:avLst>
          </a:prstGeom>
          <a:solidFill>
            <a:srgbClr val="C0392B"/>
          </a:solidFill>
          <a:ln/>
        </p:spPr>
      </p:sp>
      <p:sp>
        <p:nvSpPr>
          <p:cNvPr id="14" name="Text 12"/>
          <p:cNvSpPr/>
          <p:nvPr/>
        </p:nvSpPr>
        <p:spPr>
          <a:xfrm>
            <a:off x="6126480" y="4297680"/>
            <a:ext cx="8229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103.1%</a:t>
            </a:r>
            <a:endParaRPr lang="en-US" sz="1500" dirty="0"/>
          </a:p>
        </p:txBody>
      </p:sp>
      <p:sp>
        <p:nvSpPr>
          <p:cNvPr id="15" name="Text 13"/>
          <p:cNvSpPr/>
          <p:nvPr/>
        </p:nvSpPr>
        <p:spPr>
          <a:xfrm>
            <a:off x="2761488" y="4645152"/>
            <a:ext cx="3291840" cy="237744"/>
          </a:xfrm>
          <a:prstGeom prst="rect">
            <a:avLst/>
          </a:prstGeom>
          <a:noFill/>
          <a:ln/>
        </p:spPr>
        <p:txBody>
          <a:bodyPr wrap="square" lIns="0" tIns="0" rIns="0" bIns="0" rtlCol="0" anchor="ctr"/>
          <a:lstStyle/>
          <a:p>
            <a:pPr indent="0" marL="0">
              <a:buNone/>
            </a:pPr>
            <a:r>
              <a:rPr lang="en-US" sz="1000" i="1" dirty="0">
                <a:solidFill>
                  <a:srgbClr val="E8A33D"/>
                </a:solidFill>
                <a:latin typeface="Calibri" pitchFamily="34" charset="0"/>
                <a:ea typeface="Calibri" pitchFamily="34" charset="-122"/>
                <a:cs typeface="Calibri" pitchFamily="34" charset="-120"/>
              </a:rPr>
              <a:t>below cost</a:t>
            </a:r>
            <a:endParaRPr lang="en-US" sz="1000" dirty="0"/>
          </a:p>
        </p:txBody>
      </p:sp>
      <p:sp>
        <p:nvSpPr>
          <p:cNvPr id="16" name="Shape 14"/>
          <p:cNvSpPr/>
          <p:nvPr/>
        </p:nvSpPr>
        <p:spPr>
          <a:xfrm>
            <a:off x="5754070" y="3127248"/>
            <a:ext cx="0" cy="1481328"/>
          </a:xfrm>
          <a:prstGeom prst="line">
            <a:avLst/>
          </a:prstGeom>
          <a:noFill/>
          <a:ln w="12700">
            <a:solidFill>
              <a:srgbClr val="E8A33D"/>
            </a:solidFill>
            <a:prstDash val="dash"/>
          </a:ln>
        </p:spPr>
      </p:sp>
      <p:sp>
        <p:nvSpPr>
          <p:cNvPr id="17" name="Text 15"/>
          <p:cNvSpPr/>
          <p:nvPr/>
        </p:nvSpPr>
        <p:spPr>
          <a:xfrm>
            <a:off x="5095702" y="4626864"/>
            <a:ext cx="1371600" cy="219456"/>
          </a:xfrm>
          <a:prstGeom prst="rect">
            <a:avLst/>
          </a:prstGeom>
          <a:noFill/>
          <a:ln/>
        </p:spPr>
        <p:txBody>
          <a:bodyPr wrap="square" lIns="0" tIns="0" rIns="0" bIns="0" rtlCol="0" anchor="ctr"/>
          <a:lstStyle/>
          <a:p>
            <a:pPr algn="ctr" indent="0" marL="0">
              <a:buNone/>
            </a:pPr>
            <a:r>
              <a:rPr lang="en-US" sz="900" dirty="0">
                <a:solidFill>
                  <a:srgbClr val="E8A33D"/>
                </a:solidFill>
                <a:latin typeface="Calibri" pitchFamily="34" charset="0"/>
                <a:ea typeface="Calibri" pitchFamily="34" charset="-122"/>
                <a:cs typeface="Calibri" pitchFamily="34" charset="-120"/>
              </a:rPr>
              <a:t>break-even  100%</a:t>
            </a:r>
            <a:endParaRPr lang="en-US" sz="900" dirty="0"/>
          </a:p>
        </p:txBody>
      </p:sp>
      <p:sp>
        <p:nvSpPr>
          <p:cNvPr id="18" name="Shape 16"/>
          <p:cNvSpPr/>
          <p:nvPr/>
        </p:nvSpPr>
        <p:spPr>
          <a:xfrm>
            <a:off x="7333488" y="2743200"/>
            <a:ext cx="4291279" cy="2615184"/>
          </a:xfrm>
          <a:prstGeom prst="roundRect">
            <a:avLst>
              <a:gd name="adj" fmla="val 2448"/>
            </a:avLst>
          </a:prstGeom>
          <a:solidFill>
            <a:srgbClr val="1E2761"/>
          </a:solidFill>
          <a:ln/>
          <a:effectLst>
            <a:outerShdw sx="100000" sy="100000" kx="0" ky="0" algn="bl" rotWithShape="0" blurRad="127000" dist="25400" dir="5400000">
              <a:srgbClr val="1E2761">
                <a:alpha val="13000"/>
              </a:srgbClr>
            </a:outerShdw>
          </a:effectLst>
        </p:spPr>
      </p:sp>
      <p:sp>
        <p:nvSpPr>
          <p:cNvPr id="19" name="Text 17"/>
          <p:cNvSpPr/>
          <p:nvPr/>
        </p:nvSpPr>
        <p:spPr>
          <a:xfrm>
            <a:off x="7589520" y="2944368"/>
            <a:ext cx="146304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$19.61 M</a:t>
            </a:r>
            <a:endParaRPr lang="en-US" sz="1700" dirty="0"/>
          </a:p>
        </p:txBody>
      </p:sp>
      <p:sp>
        <p:nvSpPr>
          <p:cNvPr id="20" name="Text 18"/>
          <p:cNvSpPr/>
          <p:nvPr/>
        </p:nvSpPr>
        <p:spPr>
          <a:xfrm>
            <a:off x="9125712" y="2944368"/>
            <a:ext cx="224302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net sales</a:t>
            </a:r>
            <a:endParaRPr lang="en-US" sz="1100" dirty="0"/>
          </a:p>
        </p:txBody>
      </p:sp>
      <p:sp>
        <p:nvSpPr>
          <p:cNvPr id="21" name="Text 19"/>
          <p:cNvSpPr/>
          <p:nvPr/>
        </p:nvSpPr>
        <p:spPr>
          <a:xfrm>
            <a:off x="7589520" y="3547872"/>
            <a:ext cx="1463040" cy="329184"/>
          </a:xfrm>
          <a:prstGeom prst="rect">
            <a:avLst/>
          </a:prstGeom>
          <a:noFill/>
          <a:ln/>
        </p:spPr>
        <p:txBody>
          <a:bodyPr wrap="square" lIns="0" tIns="0" rIns="0" bIns="0" rtlCol="0" anchor="ctr"/>
          <a:lstStyle/>
          <a:p>
            <a:pPr indent="0" marL="0">
              <a:buNone/>
            </a:pPr>
            <a:r>
              <a:rPr lang="en-US" sz="1700" b="1" dirty="0">
                <a:solidFill>
                  <a:srgbClr val="C0392B"/>
                </a:solidFill>
                <a:latin typeface="Cambria" pitchFamily="34" charset="0"/>
                <a:ea typeface="Cambria" pitchFamily="34" charset="-122"/>
                <a:cs typeface="Cambria" pitchFamily="34" charset="-120"/>
              </a:rPr>
              <a:t>–$0.61 M</a:t>
            </a:r>
            <a:endParaRPr lang="en-US" sz="1700" dirty="0"/>
          </a:p>
        </p:txBody>
      </p:sp>
      <p:sp>
        <p:nvSpPr>
          <p:cNvPr id="22" name="Text 20"/>
          <p:cNvSpPr/>
          <p:nvPr/>
        </p:nvSpPr>
        <p:spPr>
          <a:xfrm>
            <a:off x="9125712" y="3547872"/>
            <a:ext cx="224302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profit</a:t>
            </a:r>
            <a:endParaRPr lang="en-US" sz="1100" dirty="0"/>
          </a:p>
        </p:txBody>
      </p:sp>
      <p:sp>
        <p:nvSpPr>
          <p:cNvPr id="23" name="Text 21"/>
          <p:cNvSpPr/>
          <p:nvPr/>
        </p:nvSpPr>
        <p:spPr>
          <a:xfrm>
            <a:off x="7589520" y="4151376"/>
            <a:ext cx="1463040" cy="329184"/>
          </a:xfrm>
          <a:prstGeom prst="rect">
            <a:avLst/>
          </a:prstGeom>
          <a:noFill/>
          <a:ln/>
        </p:spPr>
        <p:txBody>
          <a:bodyPr wrap="square" lIns="0" tIns="0" rIns="0" bIns="0" rtlCol="0" anchor="ctr"/>
          <a:lstStyle/>
          <a:p>
            <a:pPr indent="0" marL="0">
              <a:buNone/>
            </a:pPr>
            <a:r>
              <a:rPr lang="en-US" sz="1700" b="1" dirty="0">
                <a:solidFill>
                  <a:srgbClr val="C0392B"/>
                </a:solidFill>
                <a:latin typeface="Cambria" pitchFamily="34" charset="0"/>
                <a:ea typeface="Cambria" pitchFamily="34" charset="-122"/>
                <a:cs typeface="Cambria" pitchFamily="34" charset="-120"/>
              </a:rPr>
              <a:t>–3.1%</a:t>
            </a:r>
            <a:endParaRPr lang="en-US" sz="1700" dirty="0"/>
          </a:p>
        </p:txBody>
      </p:sp>
      <p:sp>
        <p:nvSpPr>
          <p:cNvPr id="24" name="Text 22"/>
          <p:cNvSpPr/>
          <p:nvPr/>
        </p:nvSpPr>
        <p:spPr>
          <a:xfrm>
            <a:off x="9125712" y="4151376"/>
            <a:ext cx="224302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margin</a:t>
            </a:r>
            <a:endParaRPr lang="en-US" sz="1100" dirty="0"/>
          </a:p>
        </p:txBody>
      </p:sp>
      <p:sp>
        <p:nvSpPr>
          <p:cNvPr id="25" name="Text 23"/>
          <p:cNvSpPr/>
          <p:nvPr/>
        </p:nvSpPr>
        <p:spPr>
          <a:xfrm>
            <a:off x="7589520" y="4754880"/>
            <a:ext cx="146304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100</a:t>
            </a:r>
            <a:endParaRPr lang="en-US" sz="1700" dirty="0"/>
          </a:p>
        </p:txBody>
      </p:sp>
      <p:sp>
        <p:nvSpPr>
          <p:cNvPr id="26" name="Text 24"/>
          <p:cNvSpPr/>
          <p:nvPr/>
        </p:nvSpPr>
        <p:spPr>
          <a:xfrm>
            <a:off x="9125712" y="4754880"/>
            <a:ext cx="224302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orders, all loss-making at the segment level</a:t>
            </a:r>
            <a:endParaRPr lang="en-US" sz="1100" dirty="0"/>
          </a:p>
        </p:txBody>
      </p:sp>
      <p:sp>
        <p:nvSpPr>
          <p:cNvPr id="27" name="Text 25"/>
          <p:cNvSpPr/>
          <p:nvPr/>
        </p:nvSpPr>
        <p:spPr>
          <a:xfrm>
            <a:off x="566928" y="5724144"/>
            <a:ext cx="11057839" cy="731520"/>
          </a:xfrm>
          <a:prstGeom prst="rect">
            <a:avLst/>
          </a:prstGeom>
          <a:noFill/>
          <a:ln/>
        </p:spPr>
        <p:txBody>
          <a:bodyPr wrap="square" lIns="0" tIns="0" rIns="0" bIns="0" rtlCol="0" anchor="ctr"/>
          <a:lstStyle/>
          <a:p>
            <a:pPr indent="0" marL="0">
              <a:buNone/>
            </a:pPr>
            <a:r>
              <a:rPr lang="en-US" sz="1300" dirty="0">
                <a:solidFill>
                  <a:srgbClr val="00A896"/>
                </a:solidFill>
                <a:latin typeface="Calibri" pitchFamily="34" charset="0"/>
                <a:ea typeface="Calibri" pitchFamily="34" charset="-122"/>
                <a:cs typeface="Calibri" pitchFamily="34" charset="-120"/>
              </a:rPr>
              <a:t>Recommendation:  model a price floor at COGS + 12% before renewing Enterprise contracts. A 103% cost ratio is a pricing failure, not a volume problem — winning more of this business makes the result worse.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FINDING 02</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Discounting costs roughly 13 margin points</a:t>
            </a:r>
            <a:endParaRPr lang="en-US" sz="3000" dirty="0"/>
          </a:p>
        </p:txBody>
      </p:sp>
      <p:graphicFrame>
        <p:nvGraphicFramePr>
          <p:cNvPr id="4" name="Chart 0" descr=""/>
          <p:cNvGraphicFramePr/>
          <p:nvPr/>
        </p:nvGraphicFramePr>
        <p:xfrm>
          <a:off x="566928" y="1554480"/>
          <a:ext cx="594360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394960"/>
            <a:ext cx="5943600" cy="310896"/>
          </a:xfrm>
          <a:prstGeom prst="rect">
            <a:avLst/>
          </a:prstGeom>
          <a:noFill/>
          <a:ln/>
        </p:spPr>
        <p:txBody>
          <a:bodyPr wrap="square" lIns="0" tIns="0" rIns="0" bIns="0" rtlCol="0" anchor="ctr"/>
          <a:lstStyle/>
          <a:p>
            <a:pPr indent="0" marL="0">
              <a:buNone/>
            </a:pPr>
            <a:r>
              <a:rPr lang="en-US" sz="1200" i="1" dirty="0">
                <a:solidFill>
                  <a:srgbClr val="5A6472"/>
                </a:solidFill>
                <a:latin typeface="Calibri" pitchFamily="34" charset="0"/>
                <a:ea typeface="Calibri" pitchFamily="34" charset="-122"/>
                <a:cs typeface="Calibri" pitchFamily="34" charset="-120"/>
              </a:rPr>
              <a:t>Margin falls in a straight line as discounting deepens</a:t>
            </a:r>
            <a:endParaRPr lang="en-US" sz="1200" dirty="0"/>
          </a:p>
        </p:txBody>
      </p:sp>
      <p:sp>
        <p:nvSpPr>
          <p:cNvPr id="6" name="Text 3"/>
          <p:cNvSpPr/>
          <p:nvPr/>
        </p:nvSpPr>
        <p:spPr>
          <a:xfrm>
            <a:off x="6876288" y="1554480"/>
            <a:ext cx="4748479" cy="274320"/>
          </a:xfrm>
          <a:prstGeom prst="rect">
            <a:avLst/>
          </a:prstGeom>
          <a:noFill/>
          <a:ln/>
        </p:spPr>
        <p:txBody>
          <a:bodyPr wrap="square" lIns="0" tIns="0" rIns="0" bIns="0" rtlCol="0" anchor="ctr"/>
          <a:lstStyle/>
          <a:p>
            <a:pPr indent="0" marL="0">
              <a:buNone/>
            </a:pPr>
            <a:r>
              <a:rPr lang="en-US" sz="1100" b="1" spc="150" kern="0" dirty="0">
                <a:solidFill>
                  <a:srgbClr val="3C5BA9"/>
                </a:solidFill>
                <a:latin typeface="Calibri" pitchFamily="34" charset="0"/>
                <a:ea typeface="Calibri" pitchFamily="34" charset="-122"/>
                <a:cs typeface="Calibri" pitchFamily="34" charset="-120"/>
              </a:rPr>
              <a:t>Discount given away, by band</a:t>
            </a:r>
            <a:endParaRPr lang="en-US" sz="1100" dirty="0"/>
          </a:p>
        </p:txBody>
      </p:sp>
      <p:sp>
        <p:nvSpPr>
          <p:cNvPr id="7" name="Text 4"/>
          <p:cNvSpPr/>
          <p:nvPr/>
        </p:nvSpPr>
        <p:spPr>
          <a:xfrm>
            <a:off x="7095744" y="1938528"/>
            <a:ext cx="1005840" cy="219456"/>
          </a:xfrm>
          <a:prstGeom prst="rect">
            <a:avLst/>
          </a:prstGeom>
          <a:noFill/>
          <a:ln/>
        </p:spPr>
        <p:txBody>
          <a:bodyPr wrap="square" lIns="0" tIns="0" rIns="0" bIns="0" rtlCol="0" anchor="ctr"/>
          <a:lstStyle/>
          <a:p>
            <a:pPr indent="0" marL="0">
              <a:buNone/>
            </a:pPr>
            <a:r>
              <a:rPr lang="en-US" sz="950" b="1" dirty="0">
                <a:solidFill>
                  <a:srgbClr val="9AA3B2"/>
                </a:solidFill>
                <a:latin typeface="Calibri" pitchFamily="34" charset="0"/>
                <a:ea typeface="Calibri" pitchFamily="34" charset="-122"/>
                <a:cs typeface="Calibri" pitchFamily="34" charset="-120"/>
              </a:rPr>
              <a:t>Band</a:t>
            </a:r>
            <a:endParaRPr lang="en-US" sz="950" dirty="0"/>
          </a:p>
        </p:txBody>
      </p:sp>
      <p:sp>
        <p:nvSpPr>
          <p:cNvPr id="8" name="Text 5"/>
          <p:cNvSpPr/>
          <p:nvPr/>
        </p:nvSpPr>
        <p:spPr>
          <a:xfrm>
            <a:off x="8101584" y="1938528"/>
            <a:ext cx="731520" cy="219456"/>
          </a:xfrm>
          <a:prstGeom prst="rect">
            <a:avLst/>
          </a:prstGeom>
          <a:noFill/>
          <a:ln/>
        </p:spPr>
        <p:txBody>
          <a:bodyPr wrap="square" lIns="0" tIns="0" rIns="0" bIns="0" rtlCol="0" anchor="ctr"/>
          <a:lstStyle/>
          <a:p>
            <a:pPr algn="r" indent="0" marL="0">
              <a:buNone/>
            </a:pPr>
            <a:r>
              <a:rPr lang="en-US" sz="950" b="1" dirty="0">
                <a:solidFill>
                  <a:srgbClr val="9AA3B2"/>
                </a:solidFill>
                <a:latin typeface="Calibri" pitchFamily="34" charset="0"/>
                <a:ea typeface="Calibri" pitchFamily="34" charset="-122"/>
                <a:cs typeface="Calibri" pitchFamily="34" charset="-120"/>
              </a:rPr>
              <a:t>Orders</a:t>
            </a:r>
            <a:endParaRPr lang="en-US" sz="950" dirty="0"/>
          </a:p>
        </p:txBody>
      </p:sp>
      <p:sp>
        <p:nvSpPr>
          <p:cNvPr id="9" name="Text 6"/>
          <p:cNvSpPr/>
          <p:nvPr/>
        </p:nvSpPr>
        <p:spPr>
          <a:xfrm>
            <a:off x="8887968" y="1938528"/>
            <a:ext cx="1005840" cy="219456"/>
          </a:xfrm>
          <a:prstGeom prst="rect">
            <a:avLst/>
          </a:prstGeom>
          <a:noFill/>
          <a:ln/>
        </p:spPr>
        <p:txBody>
          <a:bodyPr wrap="square" lIns="0" tIns="0" rIns="0" bIns="0" rtlCol="0" anchor="ctr"/>
          <a:lstStyle/>
          <a:p>
            <a:pPr algn="r" indent="0" marL="0">
              <a:buNone/>
            </a:pPr>
            <a:r>
              <a:rPr lang="en-US" sz="950" b="1" dirty="0">
                <a:solidFill>
                  <a:srgbClr val="9AA3B2"/>
                </a:solidFill>
                <a:latin typeface="Calibri" pitchFamily="34" charset="0"/>
                <a:ea typeface="Calibri" pitchFamily="34" charset="-122"/>
                <a:cs typeface="Calibri" pitchFamily="34" charset="-120"/>
              </a:rPr>
              <a:t>Discount</a:t>
            </a:r>
            <a:endParaRPr lang="en-US" sz="950" dirty="0"/>
          </a:p>
        </p:txBody>
      </p:sp>
      <p:sp>
        <p:nvSpPr>
          <p:cNvPr id="10" name="Text 7"/>
          <p:cNvSpPr/>
          <p:nvPr/>
        </p:nvSpPr>
        <p:spPr>
          <a:xfrm>
            <a:off x="9948672" y="1938528"/>
            <a:ext cx="658368" cy="219456"/>
          </a:xfrm>
          <a:prstGeom prst="rect">
            <a:avLst/>
          </a:prstGeom>
          <a:noFill/>
          <a:ln/>
        </p:spPr>
        <p:txBody>
          <a:bodyPr wrap="square" lIns="0" tIns="0" rIns="0" bIns="0" rtlCol="0" anchor="ctr"/>
          <a:lstStyle/>
          <a:p>
            <a:pPr algn="r" indent="0" marL="0">
              <a:buNone/>
            </a:pPr>
            <a:r>
              <a:rPr lang="en-US" sz="950" b="1" dirty="0">
                <a:solidFill>
                  <a:srgbClr val="9AA3B2"/>
                </a:solidFill>
                <a:latin typeface="Calibri" pitchFamily="34" charset="0"/>
                <a:ea typeface="Calibri" pitchFamily="34" charset="-122"/>
                <a:cs typeface="Calibri" pitchFamily="34" charset="-120"/>
              </a:rPr>
              <a:t>Rate</a:t>
            </a:r>
            <a:endParaRPr lang="en-US" sz="950" dirty="0"/>
          </a:p>
        </p:txBody>
      </p:sp>
      <p:sp>
        <p:nvSpPr>
          <p:cNvPr id="11" name="Shape 8"/>
          <p:cNvSpPr/>
          <p:nvPr/>
        </p:nvSpPr>
        <p:spPr>
          <a:xfrm>
            <a:off x="7095744" y="2350008"/>
            <a:ext cx="128016" cy="128016"/>
          </a:xfrm>
          <a:prstGeom prst="ellipse">
            <a:avLst/>
          </a:prstGeom>
          <a:solidFill>
            <a:srgbClr val="00A896"/>
          </a:solidFill>
          <a:ln/>
        </p:spPr>
      </p:sp>
      <p:sp>
        <p:nvSpPr>
          <p:cNvPr id="12" name="Text 9"/>
          <p:cNvSpPr/>
          <p:nvPr/>
        </p:nvSpPr>
        <p:spPr>
          <a:xfrm>
            <a:off x="7296912" y="2249424"/>
            <a:ext cx="82296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None</a:t>
            </a:r>
            <a:endParaRPr lang="en-US" sz="1200" dirty="0"/>
          </a:p>
        </p:txBody>
      </p:sp>
      <p:sp>
        <p:nvSpPr>
          <p:cNvPr id="13" name="Text 10"/>
          <p:cNvSpPr/>
          <p:nvPr/>
        </p:nvSpPr>
        <p:spPr>
          <a:xfrm>
            <a:off x="8101584" y="2249424"/>
            <a:ext cx="731520"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53</a:t>
            </a:r>
            <a:endParaRPr lang="en-US" sz="1200" dirty="0"/>
          </a:p>
        </p:txBody>
      </p:sp>
      <p:sp>
        <p:nvSpPr>
          <p:cNvPr id="14" name="Text 11"/>
          <p:cNvSpPr/>
          <p:nvPr/>
        </p:nvSpPr>
        <p:spPr>
          <a:xfrm>
            <a:off x="8887968" y="2249424"/>
            <a:ext cx="1005840" cy="32918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$0.00 M</a:t>
            </a:r>
            <a:endParaRPr lang="en-US" sz="1200" dirty="0"/>
          </a:p>
        </p:txBody>
      </p:sp>
      <p:sp>
        <p:nvSpPr>
          <p:cNvPr id="15" name="Text 12"/>
          <p:cNvSpPr/>
          <p:nvPr/>
        </p:nvSpPr>
        <p:spPr>
          <a:xfrm>
            <a:off x="9948672" y="2249424"/>
            <a:ext cx="658368"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0.0%</a:t>
            </a:r>
            <a:endParaRPr lang="en-US" sz="1200" dirty="0"/>
          </a:p>
        </p:txBody>
      </p:sp>
      <p:sp>
        <p:nvSpPr>
          <p:cNvPr id="16" name="Shape 13"/>
          <p:cNvSpPr/>
          <p:nvPr/>
        </p:nvSpPr>
        <p:spPr>
          <a:xfrm>
            <a:off x="7095744" y="2862072"/>
            <a:ext cx="128016" cy="128016"/>
          </a:xfrm>
          <a:prstGeom prst="ellipse">
            <a:avLst/>
          </a:prstGeom>
          <a:solidFill>
            <a:srgbClr val="3C5BA9"/>
          </a:solidFill>
          <a:ln/>
        </p:spPr>
      </p:sp>
      <p:sp>
        <p:nvSpPr>
          <p:cNvPr id="17" name="Text 14"/>
          <p:cNvSpPr/>
          <p:nvPr/>
        </p:nvSpPr>
        <p:spPr>
          <a:xfrm>
            <a:off x="7296912" y="2761488"/>
            <a:ext cx="82296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Low</a:t>
            </a:r>
            <a:endParaRPr lang="en-US" sz="1200" dirty="0"/>
          </a:p>
        </p:txBody>
      </p:sp>
      <p:sp>
        <p:nvSpPr>
          <p:cNvPr id="18" name="Text 15"/>
          <p:cNvSpPr/>
          <p:nvPr/>
        </p:nvSpPr>
        <p:spPr>
          <a:xfrm>
            <a:off x="8101584" y="2761488"/>
            <a:ext cx="731520"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160</a:t>
            </a:r>
            <a:endParaRPr lang="en-US" sz="1200" dirty="0"/>
          </a:p>
        </p:txBody>
      </p:sp>
      <p:sp>
        <p:nvSpPr>
          <p:cNvPr id="19" name="Text 16"/>
          <p:cNvSpPr/>
          <p:nvPr/>
        </p:nvSpPr>
        <p:spPr>
          <a:xfrm>
            <a:off x="8887968" y="2761488"/>
            <a:ext cx="1005840" cy="32918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$0.89 M</a:t>
            </a:r>
            <a:endParaRPr lang="en-US" sz="1200" dirty="0"/>
          </a:p>
        </p:txBody>
      </p:sp>
      <p:sp>
        <p:nvSpPr>
          <p:cNvPr id="20" name="Text 17"/>
          <p:cNvSpPr/>
          <p:nvPr/>
        </p:nvSpPr>
        <p:spPr>
          <a:xfrm>
            <a:off x="9948672" y="2761488"/>
            <a:ext cx="658368"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2.5%</a:t>
            </a:r>
            <a:endParaRPr lang="en-US" sz="1200" dirty="0"/>
          </a:p>
        </p:txBody>
      </p:sp>
      <p:sp>
        <p:nvSpPr>
          <p:cNvPr id="21" name="Shape 18"/>
          <p:cNvSpPr/>
          <p:nvPr/>
        </p:nvSpPr>
        <p:spPr>
          <a:xfrm>
            <a:off x="7095744" y="3374136"/>
            <a:ext cx="128016" cy="128016"/>
          </a:xfrm>
          <a:prstGeom prst="ellipse">
            <a:avLst/>
          </a:prstGeom>
          <a:solidFill>
            <a:srgbClr val="E8A33D"/>
          </a:solidFill>
          <a:ln/>
        </p:spPr>
      </p:sp>
      <p:sp>
        <p:nvSpPr>
          <p:cNvPr id="22" name="Text 19"/>
          <p:cNvSpPr/>
          <p:nvPr/>
        </p:nvSpPr>
        <p:spPr>
          <a:xfrm>
            <a:off x="7296912" y="3273552"/>
            <a:ext cx="82296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Medium</a:t>
            </a:r>
            <a:endParaRPr lang="en-US" sz="1200" dirty="0"/>
          </a:p>
        </p:txBody>
      </p:sp>
      <p:sp>
        <p:nvSpPr>
          <p:cNvPr id="23" name="Text 20"/>
          <p:cNvSpPr/>
          <p:nvPr/>
        </p:nvSpPr>
        <p:spPr>
          <a:xfrm>
            <a:off x="8101584" y="3273552"/>
            <a:ext cx="731520"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242</a:t>
            </a:r>
            <a:endParaRPr lang="en-US" sz="1200" dirty="0"/>
          </a:p>
        </p:txBody>
      </p:sp>
      <p:sp>
        <p:nvSpPr>
          <p:cNvPr id="24" name="Text 21"/>
          <p:cNvSpPr/>
          <p:nvPr/>
        </p:nvSpPr>
        <p:spPr>
          <a:xfrm>
            <a:off x="8887968" y="3273552"/>
            <a:ext cx="1005840" cy="32918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$3.00 M</a:t>
            </a:r>
            <a:endParaRPr lang="en-US" sz="1200" dirty="0"/>
          </a:p>
        </p:txBody>
      </p:sp>
      <p:sp>
        <p:nvSpPr>
          <p:cNvPr id="25" name="Text 22"/>
          <p:cNvSpPr/>
          <p:nvPr/>
        </p:nvSpPr>
        <p:spPr>
          <a:xfrm>
            <a:off x="9948672" y="3273552"/>
            <a:ext cx="658368"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7.2%</a:t>
            </a:r>
            <a:endParaRPr lang="en-US" sz="1200" dirty="0"/>
          </a:p>
        </p:txBody>
      </p:sp>
      <p:sp>
        <p:nvSpPr>
          <p:cNvPr id="26" name="Shape 23"/>
          <p:cNvSpPr/>
          <p:nvPr/>
        </p:nvSpPr>
        <p:spPr>
          <a:xfrm>
            <a:off x="6876288" y="3739896"/>
            <a:ext cx="4748479" cy="457200"/>
          </a:xfrm>
          <a:prstGeom prst="roundRect">
            <a:avLst>
              <a:gd name="adj" fmla="val 14000"/>
            </a:avLst>
          </a:prstGeom>
          <a:solidFill>
            <a:srgbClr val="E8EDF9"/>
          </a:solidFill>
          <a:ln/>
          <a:effectLst>
            <a:outerShdw sx="100000" sy="100000" kx="0" ky="0" algn="bl" rotWithShape="0" blurRad="127000" dist="25400" dir="5400000">
              <a:srgbClr val="1E2761">
                <a:alpha val="13000"/>
              </a:srgbClr>
            </a:outerShdw>
          </a:effectLst>
        </p:spPr>
      </p:sp>
      <p:sp>
        <p:nvSpPr>
          <p:cNvPr id="27" name="Shape 24"/>
          <p:cNvSpPr/>
          <p:nvPr/>
        </p:nvSpPr>
        <p:spPr>
          <a:xfrm>
            <a:off x="7095744" y="3886200"/>
            <a:ext cx="128016" cy="128016"/>
          </a:xfrm>
          <a:prstGeom prst="ellipse">
            <a:avLst/>
          </a:prstGeom>
          <a:solidFill>
            <a:srgbClr val="C0392B"/>
          </a:solidFill>
          <a:ln/>
        </p:spPr>
      </p:sp>
      <p:sp>
        <p:nvSpPr>
          <p:cNvPr id="28" name="Text 25"/>
          <p:cNvSpPr/>
          <p:nvPr/>
        </p:nvSpPr>
        <p:spPr>
          <a:xfrm>
            <a:off x="7296912" y="3785616"/>
            <a:ext cx="822960" cy="32918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High</a:t>
            </a:r>
            <a:endParaRPr lang="en-US" sz="1200" dirty="0"/>
          </a:p>
        </p:txBody>
      </p:sp>
      <p:sp>
        <p:nvSpPr>
          <p:cNvPr id="29" name="Text 26"/>
          <p:cNvSpPr/>
          <p:nvPr/>
        </p:nvSpPr>
        <p:spPr>
          <a:xfrm>
            <a:off x="8101584" y="3785616"/>
            <a:ext cx="731520"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245</a:t>
            </a:r>
            <a:endParaRPr lang="en-US" sz="1200" dirty="0"/>
          </a:p>
        </p:txBody>
      </p:sp>
      <p:sp>
        <p:nvSpPr>
          <p:cNvPr id="30" name="Text 27"/>
          <p:cNvSpPr/>
          <p:nvPr/>
        </p:nvSpPr>
        <p:spPr>
          <a:xfrm>
            <a:off x="8887968" y="3785616"/>
            <a:ext cx="1005840" cy="32918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$5.32 M</a:t>
            </a:r>
            <a:endParaRPr lang="en-US" sz="1200" dirty="0"/>
          </a:p>
        </p:txBody>
      </p:sp>
      <p:sp>
        <p:nvSpPr>
          <p:cNvPr id="31" name="Text 28"/>
          <p:cNvSpPr/>
          <p:nvPr/>
        </p:nvSpPr>
        <p:spPr>
          <a:xfrm>
            <a:off x="9948672" y="3785616"/>
            <a:ext cx="658368" cy="329184"/>
          </a:xfrm>
          <a:prstGeom prst="rect">
            <a:avLst/>
          </a:prstGeom>
          <a:noFill/>
          <a:ln/>
        </p:spPr>
        <p:txBody>
          <a:bodyPr wrap="square" lIns="0" tIns="0" rIns="0" bIns="0" rtlCol="0" anchor="ctr"/>
          <a:lstStyle/>
          <a:p>
            <a:pPr algn="r" indent="0" marL="0">
              <a:buNone/>
            </a:pPr>
            <a:r>
              <a:rPr lang="en-US" sz="1200" dirty="0">
                <a:solidFill>
                  <a:srgbClr val="5A6472"/>
                </a:solidFill>
                <a:latin typeface="Calibri" pitchFamily="34" charset="0"/>
                <a:ea typeface="Calibri" pitchFamily="34" charset="-122"/>
                <a:cs typeface="Calibri" pitchFamily="34" charset="-120"/>
              </a:rPr>
              <a:t>12.5%</a:t>
            </a:r>
            <a:endParaRPr lang="en-US" sz="1200" dirty="0"/>
          </a:p>
        </p:txBody>
      </p:sp>
      <p:sp>
        <p:nvSpPr>
          <p:cNvPr id="32" name="Shape 29"/>
          <p:cNvSpPr/>
          <p:nvPr/>
        </p:nvSpPr>
        <p:spPr>
          <a:xfrm>
            <a:off x="6876288" y="4498848"/>
            <a:ext cx="4748479" cy="1517904"/>
          </a:xfrm>
          <a:prstGeom prst="roundRect">
            <a:avLst>
              <a:gd name="adj" fmla="val 4217"/>
            </a:avLst>
          </a:prstGeom>
          <a:solidFill>
            <a:srgbClr val="1E2761"/>
          </a:solidFill>
          <a:ln/>
          <a:effectLst>
            <a:outerShdw sx="100000" sy="100000" kx="0" ky="0" algn="bl" rotWithShape="0" blurRad="127000" dist="25400" dir="5400000">
              <a:srgbClr val="1E2761">
                <a:alpha val="13000"/>
              </a:srgbClr>
            </a:outerShdw>
          </a:effectLst>
        </p:spPr>
      </p:sp>
      <p:sp>
        <p:nvSpPr>
          <p:cNvPr id="33" name="Text 30"/>
          <p:cNvSpPr/>
          <p:nvPr/>
        </p:nvSpPr>
        <p:spPr>
          <a:xfrm>
            <a:off x="7095744" y="4681728"/>
            <a:ext cx="4309567" cy="402336"/>
          </a:xfrm>
          <a:prstGeom prst="rect">
            <a:avLst/>
          </a:prstGeom>
          <a:noFill/>
          <a:ln/>
        </p:spPr>
        <p:txBody>
          <a:bodyPr wrap="square" lIns="0" tIns="0" rIns="0" bIns="0" rtlCol="0" anchor="ctr"/>
          <a:lstStyle/>
          <a:p>
            <a:pPr indent="0" marL="0">
              <a:buNone/>
            </a:pPr>
            <a:r>
              <a:rPr lang="en-US" sz="2100" b="1" dirty="0">
                <a:solidFill>
                  <a:srgbClr val="00A896"/>
                </a:solidFill>
                <a:latin typeface="Cambria" pitchFamily="34" charset="0"/>
                <a:ea typeface="Cambria" pitchFamily="34" charset="-122"/>
                <a:cs typeface="Cambria" pitchFamily="34" charset="-120"/>
              </a:rPr>
              <a:t>$1.5 – 1.8 M</a:t>
            </a:r>
            <a:endParaRPr lang="en-US" sz="2100" dirty="0"/>
          </a:p>
        </p:txBody>
      </p:sp>
      <p:sp>
        <p:nvSpPr>
          <p:cNvPr id="34" name="Text 31"/>
          <p:cNvSpPr/>
          <p:nvPr/>
        </p:nvSpPr>
        <p:spPr>
          <a:xfrm>
            <a:off x="7095744" y="5102352"/>
            <a:ext cx="4309567" cy="78638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recoverable profit at constant volume, by moving a third of High-band orders to Medium. The High band carries the most orders and the worst margin — discounting is being used as a default, not as a lever.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FINDING 03</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Growth is real — once the periods are comparable</a:t>
            </a:r>
            <a:endParaRPr lang="en-US" sz="3000" dirty="0"/>
          </a:p>
        </p:txBody>
      </p:sp>
      <p:sp>
        <p:nvSpPr>
          <p:cNvPr id="4" name="Shape 2"/>
          <p:cNvSpPr/>
          <p:nvPr/>
        </p:nvSpPr>
        <p:spPr>
          <a:xfrm>
            <a:off x="566928" y="1572768"/>
            <a:ext cx="5394960" cy="2615184"/>
          </a:xfrm>
          <a:prstGeom prst="roundRect">
            <a:avLst>
              <a:gd name="adj" fmla="val 2448"/>
            </a:avLst>
          </a:prstGeom>
          <a:solidFill>
            <a:srgbClr val="E8EDF9"/>
          </a:solidFill>
          <a:ln/>
          <a:effectLst>
            <a:outerShdw sx="100000" sy="100000" kx="0" ky="0" algn="bl" rotWithShape="0" blurRad="127000" dist="25400" dir="5400000">
              <a:srgbClr val="1E2761">
                <a:alpha val="13000"/>
              </a:srgbClr>
            </a:outerShdw>
          </a:effectLst>
        </p:spPr>
      </p:sp>
      <p:sp>
        <p:nvSpPr>
          <p:cNvPr id="5" name="Text 3"/>
          <p:cNvSpPr/>
          <p:nvPr/>
        </p:nvSpPr>
        <p:spPr>
          <a:xfrm>
            <a:off x="841248" y="1828800"/>
            <a:ext cx="4846320" cy="274320"/>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   The number the raw data gives you</a:t>
            </a:r>
            <a:endParaRPr lang="en-US" sz="1150" dirty="0"/>
          </a:p>
        </p:txBody>
      </p:sp>
      <p:sp>
        <p:nvSpPr>
          <p:cNvPr id="6" name="Text 4"/>
          <p:cNvSpPr/>
          <p:nvPr/>
        </p:nvSpPr>
        <p:spPr>
          <a:xfrm>
            <a:off x="841248" y="2194560"/>
            <a:ext cx="4846320" cy="713232"/>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+249%</a:t>
            </a:r>
            <a:endParaRPr lang="en-US" sz="4000" dirty="0"/>
          </a:p>
        </p:txBody>
      </p:sp>
      <p:sp>
        <p:nvSpPr>
          <p:cNvPr id="7" name="Text 5"/>
          <p:cNvSpPr/>
          <p:nvPr/>
        </p:nvSpPr>
        <p:spPr>
          <a:xfrm>
            <a:off x="841248" y="3017520"/>
            <a:ext cx="4846320" cy="1005840"/>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Full-year 2013 against full-year 2014. 2013 contains only September to December — four months compared against twelve. The growth is an artefact of the date range.</a:t>
            </a:r>
            <a:endParaRPr lang="en-US" sz="1250" dirty="0"/>
          </a:p>
        </p:txBody>
      </p:sp>
      <p:sp>
        <p:nvSpPr>
          <p:cNvPr id="8" name="Shape 6"/>
          <p:cNvSpPr/>
          <p:nvPr/>
        </p:nvSpPr>
        <p:spPr>
          <a:xfrm>
            <a:off x="6236208" y="1572768"/>
            <a:ext cx="5394960" cy="2615184"/>
          </a:xfrm>
          <a:prstGeom prst="roundRect">
            <a:avLst>
              <a:gd name="adj" fmla="val 2448"/>
            </a:avLst>
          </a:prstGeom>
          <a:solidFill>
            <a:srgbClr val="1E2761"/>
          </a:solidFill>
          <a:ln/>
          <a:effectLst>
            <a:outerShdw sx="100000" sy="100000" kx="0" ky="0" algn="bl" rotWithShape="0" blurRad="127000" dist="25400" dir="5400000">
              <a:srgbClr val="1E2761">
                <a:alpha val="13000"/>
              </a:srgbClr>
            </a:outerShdw>
          </a:effectLst>
        </p:spPr>
      </p:sp>
      <p:sp>
        <p:nvSpPr>
          <p:cNvPr id="9" name="Text 7"/>
          <p:cNvSpPr/>
          <p:nvPr/>
        </p:nvSpPr>
        <p:spPr>
          <a:xfrm>
            <a:off x="6510528" y="1828800"/>
            <a:ext cx="4846320" cy="274320"/>
          </a:xfrm>
          <a:prstGeom prst="rect">
            <a:avLst/>
          </a:prstGeom>
          <a:noFill/>
          <a:ln/>
        </p:spPr>
        <p:txBody>
          <a:bodyPr wrap="square" lIns="0" tIns="0" rIns="0" bIns="0" rtlCol="0" anchor="ctr"/>
          <a:lstStyle/>
          <a:p>
            <a:pPr indent="0" marL="0">
              <a:buNone/>
            </a:pPr>
            <a:r>
              <a:rPr lang="en-US" sz="1150" b="1" dirty="0">
                <a:solidFill>
                  <a:srgbClr val="00A896"/>
                </a:solidFill>
                <a:latin typeface="Calibri" pitchFamily="34" charset="0"/>
                <a:ea typeface="Calibri" pitchFamily="34" charset="-122"/>
                <a:cs typeface="Calibri" pitchFamily="34" charset="-120"/>
              </a:rPr>
              <a:t>✓   Like-for-like, September – December</a:t>
            </a:r>
            <a:endParaRPr lang="en-US" sz="1150" dirty="0"/>
          </a:p>
        </p:txBody>
      </p:sp>
      <p:sp>
        <p:nvSpPr>
          <p:cNvPr id="10" name="Text 8"/>
          <p:cNvSpPr/>
          <p:nvPr/>
        </p:nvSpPr>
        <p:spPr>
          <a:xfrm>
            <a:off x="6510528" y="2194560"/>
            <a:ext cx="2377440" cy="713232"/>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+36.9%</a:t>
            </a:r>
            <a:endParaRPr lang="en-US" sz="4000" dirty="0"/>
          </a:p>
        </p:txBody>
      </p:sp>
      <p:sp>
        <p:nvSpPr>
          <p:cNvPr id="11" name="Text 9"/>
          <p:cNvSpPr/>
          <p:nvPr/>
        </p:nvSpPr>
        <p:spPr>
          <a:xfrm>
            <a:off x="6510528" y="2889504"/>
            <a:ext cx="2377440" cy="237744"/>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net sales</a:t>
            </a:r>
            <a:endParaRPr lang="en-US" sz="1100" dirty="0"/>
          </a:p>
        </p:txBody>
      </p:sp>
      <p:sp>
        <p:nvSpPr>
          <p:cNvPr id="12" name="Text 10"/>
          <p:cNvSpPr/>
          <p:nvPr/>
        </p:nvSpPr>
        <p:spPr>
          <a:xfrm>
            <a:off x="8979408" y="2194560"/>
            <a:ext cx="2194560" cy="713232"/>
          </a:xfrm>
          <a:prstGeom prst="rect">
            <a:avLst/>
          </a:prstGeom>
          <a:noFill/>
          <a:ln/>
        </p:spPr>
        <p:txBody>
          <a:bodyPr wrap="square" lIns="0" tIns="0" rIns="0" bIns="0" rtlCol="0" anchor="ctr"/>
          <a:lstStyle/>
          <a:p>
            <a:pPr indent="0" marL="0">
              <a:buNone/>
            </a:pPr>
            <a:r>
              <a:rPr lang="en-US" sz="4000" b="1" dirty="0">
                <a:solidFill>
                  <a:srgbClr val="00A896"/>
                </a:solidFill>
                <a:latin typeface="Cambria" pitchFamily="34" charset="0"/>
                <a:ea typeface="Cambria" pitchFamily="34" charset="-122"/>
                <a:cs typeface="Cambria" pitchFamily="34" charset="-120"/>
              </a:rPr>
              <a:t>+40.1%</a:t>
            </a:r>
            <a:endParaRPr lang="en-US" sz="4000" dirty="0"/>
          </a:p>
        </p:txBody>
      </p:sp>
      <p:sp>
        <p:nvSpPr>
          <p:cNvPr id="13" name="Text 11"/>
          <p:cNvSpPr/>
          <p:nvPr/>
        </p:nvSpPr>
        <p:spPr>
          <a:xfrm>
            <a:off x="8979408" y="2889504"/>
            <a:ext cx="2194560" cy="237744"/>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profit</a:t>
            </a:r>
            <a:endParaRPr lang="en-US" sz="1100" dirty="0"/>
          </a:p>
        </p:txBody>
      </p:sp>
      <p:sp>
        <p:nvSpPr>
          <p:cNvPr id="14" name="Text 12"/>
          <p:cNvSpPr/>
          <p:nvPr/>
        </p:nvSpPr>
        <p:spPr>
          <a:xfrm>
            <a:off x="6510528" y="3255264"/>
            <a:ext cx="4846320" cy="7315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$26.4 M → $36.2 M net sales.  $3.88 M → $5.44 M profit. Profit growing faster than revenue means the mix improved, not just the volume.</a:t>
            </a:r>
            <a:endParaRPr lang="en-US" sz="1250" dirty="0"/>
          </a:p>
        </p:txBody>
      </p:sp>
      <p:sp>
        <p:nvSpPr>
          <p:cNvPr id="15" name="Text 13"/>
          <p:cNvSpPr/>
          <p:nvPr/>
        </p:nvSpPr>
        <p:spPr>
          <a:xfrm>
            <a:off x="566928" y="4517136"/>
            <a:ext cx="11057839"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Revenue is lumpy and back-loaded</a:t>
            </a:r>
            <a:endParaRPr lang="en-US" sz="1900" dirty="0"/>
          </a:p>
        </p:txBody>
      </p:sp>
      <p:sp>
        <p:nvSpPr>
          <p:cNvPr id="16" name="Text 14"/>
          <p:cNvSpPr/>
          <p:nvPr/>
        </p:nvSpPr>
        <p:spPr>
          <a:xfrm>
            <a:off x="566928" y="4956048"/>
            <a:ext cx="2103120" cy="384048"/>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$12.38 M</a:t>
            </a:r>
            <a:endParaRPr lang="en-US" sz="2000" dirty="0"/>
          </a:p>
        </p:txBody>
      </p:sp>
      <p:sp>
        <p:nvSpPr>
          <p:cNvPr id="17" name="Text 15"/>
          <p:cNvSpPr/>
          <p:nvPr/>
        </p:nvSpPr>
        <p:spPr>
          <a:xfrm>
            <a:off x="566928" y="5340096"/>
            <a:ext cx="2103120" cy="237744"/>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Oct 2014  ·  peak month</a:t>
            </a:r>
            <a:endParaRPr lang="en-US" sz="1050" dirty="0"/>
          </a:p>
        </p:txBody>
      </p:sp>
      <p:sp>
        <p:nvSpPr>
          <p:cNvPr id="18" name="Text 16"/>
          <p:cNvSpPr/>
          <p:nvPr/>
        </p:nvSpPr>
        <p:spPr>
          <a:xfrm>
            <a:off x="2852928" y="4956048"/>
            <a:ext cx="2103120" cy="384048"/>
          </a:xfrm>
          <a:prstGeom prst="rect">
            <a:avLst/>
          </a:prstGeom>
          <a:noFill/>
          <a:ln/>
        </p:spPr>
        <p:txBody>
          <a:bodyPr wrap="square" lIns="0" tIns="0" rIns="0" bIns="0" rtlCol="0" anchor="ctr"/>
          <a:lstStyle/>
          <a:p>
            <a:pPr indent="0" marL="0">
              <a:buNone/>
            </a:pPr>
            <a:r>
              <a:rPr lang="en-US" sz="2000" b="1" dirty="0">
                <a:solidFill>
                  <a:srgbClr val="C0392B"/>
                </a:solidFill>
                <a:latin typeface="Cambria" pitchFamily="34" charset="0"/>
                <a:ea typeface="Cambria" pitchFamily="34" charset="-122"/>
                <a:cs typeface="Cambria" pitchFamily="34" charset="-120"/>
              </a:rPr>
              <a:t>$5.38 M</a:t>
            </a:r>
            <a:endParaRPr lang="en-US" sz="2000" dirty="0"/>
          </a:p>
        </p:txBody>
      </p:sp>
      <p:sp>
        <p:nvSpPr>
          <p:cNvPr id="19" name="Text 17"/>
          <p:cNvSpPr/>
          <p:nvPr/>
        </p:nvSpPr>
        <p:spPr>
          <a:xfrm>
            <a:off x="2852928" y="5340096"/>
            <a:ext cx="2103120" cy="237744"/>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Nov 2014  ·  collapses 57%</a:t>
            </a:r>
            <a:endParaRPr lang="en-US" sz="1050" dirty="0"/>
          </a:p>
        </p:txBody>
      </p:sp>
      <p:sp>
        <p:nvSpPr>
          <p:cNvPr id="20" name="Text 18"/>
          <p:cNvSpPr/>
          <p:nvPr/>
        </p:nvSpPr>
        <p:spPr>
          <a:xfrm>
            <a:off x="5138928" y="4956048"/>
            <a:ext cx="2103120" cy="384048"/>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$12.00 M</a:t>
            </a:r>
            <a:endParaRPr lang="en-US" sz="2000" dirty="0"/>
          </a:p>
        </p:txBody>
      </p:sp>
      <p:sp>
        <p:nvSpPr>
          <p:cNvPr id="21" name="Text 19"/>
          <p:cNvSpPr/>
          <p:nvPr/>
        </p:nvSpPr>
        <p:spPr>
          <a:xfrm>
            <a:off x="5138928" y="5340096"/>
            <a:ext cx="2103120" cy="237744"/>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Dec 2014  ·  second peak</a:t>
            </a:r>
            <a:endParaRPr lang="en-US" sz="1050" dirty="0"/>
          </a:p>
        </p:txBody>
      </p:sp>
      <p:sp>
        <p:nvSpPr>
          <p:cNvPr id="22" name="Text 20"/>
          <p:cNvSpPr/>
          <p:nvPr/>
        </p:nvSpPr>
        <p:spPr>
          <a:xfrm>
            <a:off x="7607808" y="4901184"/>
            <a:ext cx="4016959" cy="109728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October and December 2014 together account for 21% of all revenue in the dataset. Quarter-end concentration this severe usually signals discount-driven pull-forward rather than underlying demand — worth confirming before it is built into next year's forecast.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TREND</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Sixteen months of performance</a:t>
            </a:r>
            <a:endParaRPr lang="en-US" sz="3000" dirty="0"/>
          </a:p>
        </p:txBody>
      </p:sp>
      <p:graphicFrame>
        <p:nvGraphicFramePr>
          <p:cNvPr id="4" name="Chart 0" descr=""/>
          <p:cNvGraphicFramePr/>
          <p:nvPr/>
        </p:nvGraphicFramePr>
        <p:xfrm>
          <a:off x="566928" y="1554480"/>
          <a:ext cx="11057839"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138928"/>
            <a:ext cx="2560320" cy="237744"/>
          </a:xfrm>
          <a:prstGeom prst="rect">
            <a:avLst/>
          </a:prstGeom>
          <a:noFill/>
          <a:ln/>
        </p:spPr>
        <p:txBody>
          <a:bodyPr wrap="square" lIns="0" tIns="0" rIns="0" bIns="0" rtlCol="0" anchor="ctr"/>
          <a:lstStyle/>
          <a:p>
            <a:pPr indent="0" marL="0">
              <a:buNone/>
            </a:pPr>
            <a:r>
              <a:rPr lang="en-US" sz="1050" b="1" spc="100" kern="0" dirty="0">
                <a:solidFill>
                  <a:srgbClr val="3C5BA9"/>
                </a:solidFill>
                <a:latin typeface="Calibri" pitchFamily="34" charset="0"/>
                <a:ea typeface="Calibri" pitchFamily="34" charset="-122"/>
                <a:cs typeface="Calibri" pitchFamily="34" charset="-120"/>
              </a:rPr>
              <a:t>Peak</a:t>
            </a:r>
            <a:endParaRPr lang="en-US" sz="1050" dirty="0"/>
          </a:p>
        </p:txBody>
      </p:sp>
      <p:sp>
        <p:nvSpPr>
          <p:cNvPr id="6" name="Text 3"/>
          <p:cNvSpPr/>
          <p:nvPr/>
        </p:nvSpPr>
        <p:spPr>
          <a:xfrm>
            <a:off x="566928" y="5394960"/>
            <a:ext cx="2560320" cy="548640"/>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Oct 2014 · $12.38 M</a:t>
            </a:r>
            <a:endParaRPr lang="en-US" sz="1150" dirty="0"/>
          </a:p>
        </p:txBody>
      </p:sp>
      <p:sp>
        <p:nvSpPr>
          <p:cNvPr id="7" name="Text 4"/>
          <p:cNvSpPr/>
          <p:nvPr/>
        </p:nvSpPr>
        <p:spPr>
          <a:xfrm>
            <a:off x="3328416" y="5138928"/>
            <a:ext cx="2560320" cy="237744"/>
          </a:xfrm>
          <a:prstGeom prst="rect">
            <a:avLst/>
          </a:prstGeom>
          <a:noFill/>
          <a:ln/>
        </p:spPr>
        <p:txBody>
          <a:bodyPr wrap="square" lIns="0" tIns="0" rIns="0" bIns="0" rtlCol="0" anchor="ctr"/>
          <a:lstStyle/>
          <a:p>
            <a:pPr indent="0" marL="0">
              <a:buNone/>
            </a:pPr>
            <a:r>
              <a:rPr lang="en-US" sz="1050" b="1" spc="100" kern="0" dirty="0">
                <a:solidFill>
                  <a:srgbClr val="3C5BA9"/>
                </a:solidFill>
                <a:latin typeface="Calibri" pitchFamily="34" charset="0"/>
                <a:ea typeface="Calibri" pitchFamily="34" charset="-122"/>
                <a:cs typeface="Calibri" pitchFamily="34" charset="-120"/>
              </a:rPr>
              <a:t>Trough</a:t>
            </a:r>
            <a:endParaRPr lang="en-US" sz="1050" dirty="0"/>
          </a:p>
        </p:txBody>
      </p:sp>
      <p:sp>
        <p:nvSpPr>
          <p:cNvPr id="8" name="Text 5"/>
          <p:cNvSpPr/>
          <p:nvPr/>
        </p:nvSpPr>
        <p:spPr>
          <a:xfrm>
            <a:off x="3328416" y="5394960"/>
            <a:ext cx="2560320" cy="548640"/>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Sep 2013 · $4.48 M</a:t>
            </a:r>
            <a:endParaRPr lang="en-US" sz="1150" dirty="0"/>
          </a:p>
        </p:txBody>
      </p:sp>
      <p:sp>
        <p:nvSpPr>
          <p:cNvPr id="9" name="Text 6"/>
          <p:cNvSpPr/>
          <p:nvPr/>
        </p:nvSpPr>
        <p:spPr>
          <a:xfrm>
            <a:off x="6089904" y="5138928"/>
            <a:ext cx="2560320" cy="237744"/>
          </a:xfrm>
          <a:prstGeom prst="rect">
            <a:avLst/>
          </a:prstGeom>
          <a:noFill/>
          <a:ln/>
        </p:spPr>
        <p:txBody>
          <a:bodyPr wrap="square" lIns="0" tIns="0" rIns="0" bIns="0" rtlCol="0" anchor="ctr"/>
          <a:lstStyle/>
          <a:p>
            <a:pPr indent="0" marL="0">
              <a:buNone/>
            </a:pPr>
            <a:r>
              <a:rPr lang="en-US" sz="1050" b="1" spc="100" kern="0" dirty="0">
                <a:solidFill>
                  <a:srgbClr val="3C5BA9"/>
                </a:solidFill>
                <a:latin typeface="Calibri" pitchFamily="34" charset="0"/>
                <a:ea typeface="Calibri" pitchFamily="34" charset="-122"/>
                <a:cs typeface="Calibri" pitchFamily="34" charset="-120"/>
              </a:rPr>
              <a:t>Spread</a:t>
            </a:r>
            <a:endParaRPr lang="en-US" sz="1050" dirty="0"/>
          </a:p>
        </p:txBody>
      </p:sp>
      <p:sp>
        <p:nvSpPr>
          <p:cNvPr id="10" name="Text 7"/>
          <p:cNvSpPr/>
          <p:nvPr/>
        </p:nvSpPr>
        <p:spPr>
          <a:xfrm>
            <a:off x="6089904" y="5394960"/>
            <a:ext cx="2560320" cy="548640"/>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2.8× between best and worst month</a:t>
            </a:r>
            <a:endParaRPr lang="en-US" sz="1150" dirty="0"/>
          </a:p>
        </p:txBody>
      </p:sp>
      <p:sp>
        <p:nvSpPr>
          <p:cNvPr id="11" name="Text 8"/>
          <p:cNvSpPr/>
          <p:nvPr/>
        </p:nvSpPr>
        <p:spPr>
          <a:xfrm>
            <a:off x="8851392" y="5138928"/>
            <a:ext cx="2560320" cy="237744"/>
          </a:xfrm>
          <a:prstGeom prst="rect">
            <a:avLst/>
          </a:prstGeom>
          <a:noFill/>
          <a:ln/>
        </p:spPr>
        <p:txBody>
          <a:bodyPr wrap="square" lIns="0" tIns="0" rIns="0" bIns="0" rtlCol="0" anchor="ctr"/>
          <a:lstStyle/>
          <a:p>
            <a:pPr indent="0" marL="0">
              <a:buNone/>
            </a:pPr>
            <a:r>
              <a:rPr lang="en-US" sz="1050" b="1" spc="100" kern="0" dirty="0">
                <a:solidFill>
                  <a:srgbClr val="3C5BA9"/>
                </a:solidFill>
                <a:latin typeface="Calibri" pitchFamily="34" charset="0"/>
                <a:ea typeface="Calibri" pitchFamily="34" charset="-122"/>
                <a:cs typeface="Calibri" pitchFamily="34" charset="-120"/>
              </a:rPr>
              <a:t>Profit line</a:t>
            </a:r>
            <a:endParaRPr lang="en-US" sz="1050" dirty="0"/>
          </a:p>
        </p:txBody>
      </p:sp>
      <p:sp>
        <p:nvSpPr>
          <p:cNvPr id="12" name="Text 9"/>
          <p:cNvSpPr/>
          <p:nvPr/>
        </p:nvSpPr>
        <p:spPr>
          <a:xfrm>
            <a:off x="8851392" y="5394960"/>
            <a:ext cx="2560320" cy="548640"/>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Tracks revenue, except Nov 2013 — high volume, thin margin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BUILD</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Star schema, not a flat table</a:t>
            </a:r>
            <a:endParaRPr lang="en-US" sz="3000" dirty="0"/>
          </a:p>
        </p:txBody>
      </p:sp>
      <p:sp>
        <p:nvSpPr>
          <p:cNvPr id="4" name="Text 2"/>
          <p:cNvSpPr/>
          <p:nvPr/>
        </p:nvSpPr>
        <p:spPr>
          <a:xfrm>
            <a:off x="566928" y="1389888"/>
            <a:ext cx="6675120" cy="51206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700 rows would work as a single flat table. A flat table also makes time intelligence unreliable and leaves nowhere clean to hang a future budget table.</a:t>
            </a:r>
            <a:endParaRPr lang="en-US" sz="1250" dirty="0"/>
          </a:p>
        </p:txBody>
      </p:sp>
      <p:sp>
        <p:nvSpPr>
          <p:cNvPr id="5" name="Shape 3"/>
          <p:cNvSpPr/>
          <p:nvPr/>
        </p:nvSpPr>
        <p:spPr>
          <a:xfrm>
            <a:off x="3310128" y="2642616"/>
            <a:ext cx="0" cy="1481328"/>
          </a:xfrm>
          <a:prstGeom prst="line">
            <a:avLst/>
          </a:prstGeom>
          <a:noFill/>
          <a:ln w="22225">
            <a:solidFill>
              <a:srgbClr val="CADCFC"/>
            </a:solidFill>
            <a:prstDash val="solid"/>
          </a:ln>
        </p:spPr>
      </p:sp>
      <p:sp>
        <p:nvSpPr>
          <p:cNvPr id="6" name="Shape 4"/>
          <p:cNvSpPr/>
          <p:nvPr/>
        </p:nvSpPr>
        <p:spPr>
          <a:xfrm>
            <a:off x="1298448" y="4123944"/>
            <a:ext cx="2011680" cy="0"/>
          </a:xfrm>
          <a:prstGeom prst="line">
            <a:avLst/>
          </a:prstGeom>
          <a:noFill/>
          <a:ln w="22225">
            <a:solidFill>
              <a:srgbClr val="CADCFC"/>
            </a:solidFill>
            <a:prstDash val="solid"/>
          </a:ln>
        </p:spPr>
      </p:sp>
      <p:sp>
        <p:nvSpPr>
          <p:cNvPr id="7" name="Shape 5"/>
          <p:cNvSpPr/>
          <p:nvPr/>
        </p:nvSpPr>
        <p:spPr>
          <a:xfrm>
            <a:off x="3310128" y="4123944"/>
            <a:ext cx="2011680" cy="0"/>
          </a:xfrm>
          <a:prstGeom prst="line">
            <a:avLst/>
          </a:prstGeom>
          <a:noFill/>
          <a:ln w="22225">
            <a:solidFill>
              <a:srgbClr val="CADCFC"/>
            </a:solidFill>
            <a:prstDash val="solid"/>
          </a:ln>
        </p:spPr>
      </p:sp>
      <p:sp>
        <p:nvSpPr>
          <p:cNvPr id="8" name="Shape 6"/>
          <p:cNvSpPr/>
          <p:nvPr/>
        </p:nvSpPr>
        <p:spPr>
          <a:xfrm flipH="1">
            <a:off x="2304288" y="4123944"/>
            <a:ext cx="1005840" cy="1481328"/>
          </a:xfrm>
          <a:prstGeom prst="line">
            <a:avLst/>
          </a:prstGeom>
          <a:noFill/>
          <a:ln w="22225">
            <a:solidFill>
              <a:srgbClr val="CADCFC"/>
            </a:solidFill>
            <a:prstDash val="solid"/>
          </a:ln>
        </p:spPr>
      </p:sp>
      <p:sp>
        <p:nvSpPr>
          <p:cNvPr id="9" name="Shape 7"/>
          <p:cNvSpPr/>
          <p:nvPr/>
        </p:nvSpPr>
        <p:spPr>
          <a:xfrm>
            <a:off x="3310128" y="4123944"/>
            <a:ext cx="1005840" cy="1481328"/>
          </a:xfrm>
          <a:prstGeom prst="line">
            <a:avLst/>
          </a:prstGeom>
          <a:noFill/>
          <a:ln w="22225">
            <a:solidFill>
              <a:srgbClr val="CADCFC"/>
            </a:solidFill>
            <a:prstDash val="solid"/>
          </a:ln>
        </p:spPr>
      </p:sp>
      <p:sp>
        <p:nvSpPr>
          <p:cNvPr id="10" name="Shape 8"/>
          <p:cNvSpPr/>
          <p:nvPr/>
        </p:nvSpPr>
        <p:spPr>
          <a:xfrm>
            <a:off x="2395728" y="3794760"/>
            <a:ext cx="1828800" cy="658368"/>
          </a:xfrm>
          <a:prstGeom prst="roundRect">
            <a:avLst>
              <a:gd name="adj" fmla="val 8333"/>
            </a:avLst>
          </a:prstGeom>
          <a:solidFill>
            <a:srgbClr val="1E2761"/>
          </a:solidFill>
          <a:ln/>
          <a:effectLst>
            <a:outerShdw sx="100000" sy="100000" kx="0" ky="0" algn="bl" rotWithShape="0" blurRad="127000" dist="25400" dir="5400000">
              <a:srgbClr val="1E2761">
                <a:alpha val="13000"/>
              </a:srgbClr>
            </a:outerShdw>
          </a:effectLst>
        </p:spPr>
      </p:sp>
      <p:sp>
        <p:nvSpPr>
          <p:cNvPr id="11" name="Text 9"/>
          <p:cNvSpPr/>
          <p:nvPr/>
        </p:nvSpPr>
        <p:spPr>
          <a:xfrm>
            <a:off x="2395728" y="3849624"/>
            <a:ext cx="18288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financials</a:t>
            </a:r>
            <a:endParaRPr lang="en-US" sz="1300" dirty="0"/>
          </a:p>
        </p:txBody>
      </p:sp>
      <p:sp>
        <p:nvSpPr>
          <p:cNvPr id="12" name="Text 10"/>
          <p:cNvSpPr/>
          <p:nvPr/>
        </p:nvSpPr>
        <p:spPr>
          <a:xfrm>
            <a:off x="2395728" y="4123944"/>
            <a:ext cx="1828800" cy="219456"/>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fact · 700 rows</a:t>
            </a:r>
            <a:endParaRPr lang="en-US" sz="950" dirty="0"/>
          </a:p>
        </p:txBody>
      </p:sp>
      <p:sp>
        <p:nvSpPr>
          <p:cNvPr id="13" name="Shape 11"/>
          <p:cNvSpPr/>
          <p:nvPr/>
        </p:nvSpPr>
        <p:spPr>
          <a:xfrm>
            <a:off x="2395728" y="2313432"/>
            <a:ext cx="1828800" cy="658368"/>
          </a:xfrm>
          <a:prstGeom prst="roundRect">
            <a:avLst>
              <a:gd name="adj" fmla="val 8333"/>
            </a:avLst>
          </a:prstGeom>
          <a:solidFill>
            <a:srgbClr val="E8EDF9"/>
          </a:solidFill>
          <a:ln/>
          <a:effectLst>
            <a:outerShdw sx="100000" sy="100000" kx="0" ky="0" algn="bl" rotWithShape="0" blurRad="127000" dist="25400" dir="5400000">
              <a:srgbClr val="1E2761">
                <a:alpha val="13000"/>
              </a:srgbClr>
            </a:outerShdw>
          </a:effectLst>
        </p:spPr>
      </p:sp>
      <p:sp>
        <p:nvSpPr>
          <p:cNvPr id="14" name="Text 12"/>
          <p:cNvSpPr/>
          <p:nvPr/>
        </p:nvSpPr>
        <p:spPr>
          <a:xfrm>
            <a:off x="2395728" y="2386584"/>
            <a:ext cx="1828800"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Date</a:t>
            </a:r>
            <a:endParaRPr lang="en-US" sz="1200" dirty="0"/>
          </a:p>
        </p:txBody>
      </p:sp>
      <p:sp>
        <p:nvSpPr>
          <p:cNvPr id="15" name="Text 13"/>
          <p:cNvSpPr/>
          <p:nvPr/>
        </p:nvSpPr>
        <p:spPr>
          <a:xfrm>
            <a:off x="2395728" y="2660904"/>
            <a:ext cx="1828800" cy="201168"/>
          </a:xfrm>
          <a:prstGeom prst="rect">
            <a:avLst/>
          </a:prstGeom>
          <a:noFill/>
          <a:ln/>
        </p:spPr>
        <p:txBody>
          <a:bodyPr wrap="square" lIns="0" tIns="0" rIns="0" bIns="0" rtlCol="0" anchor="ctr"/>
          <a:lstStyle/>
          <a:p>
            <a:pPr algn="ctr" indent="0" marL="0">
              <a:buNone/>
            </a:pPr>
            <a:r>
              <a:rPr lang="en-US" sz="900" dirty="0">
                <a:solidFill>
                  <a:srgbClr val="5A6472"/>
                </a:solidFill>
                <a:latin typeface="Calibri" pitchFamily="34" charset="0"/>
                <a:ea typeface="Calibri" pitchFamily="34" charset="-122"/>
                <a:cs typeface="Calibri" pitchFamily="34" charset="-120"/>
              </a:rPr>
              <a:t>marked date table</a:t>
            </a:r>
            <a:endParaRPr lang="en-US" sz="900" dirty="0"/>
          </a:p>
        </p:txBody>
      </p:sp>
      <p:sp>
        <p:nvSpPr>
          <p:cNvPr id="16" name="Shape 14"/>
          <p:cNvSpPr/>
          <p:nvPr/>
        </p:nvSpPr>
        <p:spPr>
          <a:xfrm>
            <a:off x="384048" y="3794760"/>
            <a:ext cx="1828800" cy="658368"/>
          </a:xfrm>
          <a:prstGeom prst="roundRect">
            <a:avLst>
              <a:gd name="adj" fmla="val 8333"/>
            </a:avLst>
          </a:prstGeom>
          <a:solidFill>
            <a:srgbClr val="E8EDF9"/>
          </a:solidFill>
          <a:ln/>
          <a:effectLst>
            <a:outerShdw sx="100000" sy="100000" kx="0" ky="0" algn="bl" rotWithShape="0" blurRad="127000" dist="25400" dir="5400000">
              <a:srgbClr val="1E2761">
                <a:alpha val="13000"/>
              </a:srgbClr>
            </a:outerShdw>
          </a:effectLst>
        </p:spPr>
      </p:sp>
      <p:sp>
        <p:nvSpPr>
          <p:cNvPr id="17" name="Text 15"/>
          <p:cNvSpPr/>
          <p:nvPr/>
        </p:nvSpPr>
        <p:spPr>
          <a:xfrm>
            <a:off x="384048" y="3867912"/>
            <a:ext cx="1828800"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Segment</a:t>
            </a:r>
            <a:endParaRPr lang="en-US" sz="1200" dirty="0"/>
          </a:p>
        </p:txBody>
      </p:sp>
      <p:sp>
        <p:nvSpPr>
          <p:cNvPr id="18" name="Text 16"/>
          <p:cNvSpPr/>
          <p:nvPr/>
        </p:nvSpPr>
        <p:spPr>
          <a:xfrm>
            <a:off x="384048" y="4142232"/>
            <a:ext cx="1828800" cy="201168"/>
          </a:xfrm>
          <a:prstGeom prst="rect">
            <a:avLst/>
          </a:prstGeom>
          <a:noFill/>
          <a:ln/>
        </p:spPr>
        <p:txBody>
          <a:bodyPr wrap="square" lIns="0" tIns="0" rIns="0" bIns="0" rtlCol="0" anchor="ctr"/>
          <a:lstStyle/>
          <a:p>
            <a:pPr algn="ctr" indent="0" marL="0">
              <a:buNone/>
            </a:pPr>
            <a:r>
              <a:rPr lang="en-US" sz="900" dirty="0">
                <a:solidFill>
                  <a:srgbClr val="5A6472"/>
                </a:solidFill>
                <a:latin typeface="Calibri" pitchFamily="34" charset="0"/>
                <a:ea typeface="Calibri" pitchFamily="34" charset="-122"/>
                <a:cs typeface="Calibri" pitchFamily="34" charset="-120"/>
              </a:rPr>
              <a:t>dimension</a:t>
            </a:r>
            <a:endParaRPr lang="en-US" sz="900" dirty="0"/>
          </a:p>
        </p:txBody>
      </p:sp>
      <p:sp>
        <p:nvSpPr>
          <p:cNvPr id="19" name="Shape 17"/>
          <p:cNvSpPr/>
          <p:nvPr/>
        </p:nvSpPr>
        <p:spPr>
          <a:xfrm>
            <a:off x="4407408" y="3794760"/>
            <a:ext cx="1828800" cy="658368"/>
          </a:xfrm>
          <a:prstGeom prst="roundRect">
            <a:avLst>
              <a:gd name="adj" fmla="val 8333"/>
            </a:avLst>
          </a:prstGeom>
          <a:solidFill>
            <a:srgbClr val="E8EDF9"/>
          </a:solidFill>
          <a:ln/>
          <a:effectLst>
            <a:outerShdw sx="100000" sy="100000" kx="0" ky="0" algn="bl" rotWithShape="0" blurRad="127000" dist="25400" dir="5400000">
              <a:srgbClr val="1E2761">
                <a:alpha val="13000"/>
              </a:srgbClr>
            </a:outerShdw>
          </a:effectLst>
        </p:spPr>
      </p:sp>
      <p:sp>
        <p:nvSpPr>
          <p:cNvPr id="20" name="Text 18"/>
          <p:cNvSpPr/>
          <p:nvPr/>
        </p:nvSpPr>
        <p:spPr>
          <a:xfrm>
            <a:off x="4407408" y="3867912"/>
            <a:ext cx="1828800"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Product</a:t>
            </a:r>
            <a:endParaRPr lang="en-US" sz="1200" dirty="0"/>
          </a:p>
        </p:txBody>
      </p:sp>
      <p:sp>
        <p:nvSpPr>
          <p:cNvPr id="21" name="Text 19"/>
          <p:cNvSpPr/>
          <p:nvPr/>
        </p:nvSpPr>
        <p:spPr>
          <a:xfrm>
            <a:off x="4407408" y="4142232"/>
            <a:ext cx="1828800" cy="201168"/>
          </a:xfrm>
          <a:prstGeom prst="rect">
            <a:avLst/>
          </a:prstGeom>
          <a:noFill/>
          <a:ln/>
        </p:spPr>
        <p:txBody>
          <a:bodyPr wrap="square" lIns="0" tIns="0" rIns="0" bIns="0" rtlCol="0" anchor="ctr"/>
          <a:lstStyle/>
          <a:p>
            <a:pPr algn="ctr" indent="0" marL="0">
              <a:buNone/>
            </a:pPr>
            <a:r>
              <a:rPr lang="en-US" sz="900" dirty="0">
                <a:solidFill>
                  <a:srgbClr val="5A6472"/>
                </a:solidFill>
                <a:latin typeface="Calibri" pitchFamily="34" charset="0"/>
                <a:ea typeface="Calibri" pitchFamily="34" charset="-122"/>
                <a:cs typeface="Calibri" pitchFamily="34" charset="-120"/>
              </a:rPr>
              <a:t>dimension</a:t>
            </a:r>
            <a:endParaRPr lang="en-US" sz="900" dirty="0"/>
          </a:p>
        </p:txBody>
      </p:sp>
      <p:sp>
        <p:nvSpPr>
          <p:cNvPr id="22" name="Shape 20"/>
          <p:cNvSpPr/>
          <p:nvPr/>
        </p:nvSpPr>
        <p:spPr>
          <a:xfrm>
            <a:off x="1389888" y="5276088"/>
            <a:ext cx="1828800" cy="658368"/>
          </a:xfrm>
          <a:prstGeom prst="roundRect">
            <a:avLst>
              <a:gd name="adj" fmla="val 8333"/>
            </a:avLst>
          </a:prstGeom>
          <a:solidFill>
            <a:srgbClr val="E8EDF9"/>
          </a:solidFill>
          <a:ln/>
          <a:effectLst>
            <a:outerShdw sx="100000" sy="100000" kx="0" ky="0" algn="bl" rotWithShape="0" blurRad="127000" dist="25400" dir="5400000">
              <a:srgbClr val="1E2761">
                <a:alpha val="13000"/>
              </a:srgbClr>
            </a:outerShdw>
          </a:effectLst>
        </p:spPr>
      </p:sp>
      <p:sp>
        <p:nvSpPr>
          <p:cNvPr id="23" name="Text 21"/>
          <p:cNvSpPr/>
          <p:nvPr/>
        </p:nvSpPr>
        <p:spPr>
          <a:xfrm>
            <a:off x="1389888" y="5349240"/>
            <a:ext cx="1828800"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Country</a:t>
            </a:r>
            <a:endParaRPr lang="en-US" sz="1200" dirty="0"/>
          </a:p>
        </p:txBody>
      </p:sp>
      <p:sp>
        <p:nvSpPr>
          <p:cNvPr id="24" name="Text 22"/>
          <p:cNvSpPr/>
          <p:nvPr/>
        </p:nvSpPr>
        <p:spPr>
          <a:xfrm>
            <a:off x="1389888" y="5623560"/>
            <a:ext cx="1828800" cy="201168"/>
          </a:xfrm>
          <a:prstGeom prst="rect">
            <a:avLst/>
          </a:prstGeom>
          <a:noFill/>
          <a:ln/>
        </p:spPr>
        <p:txBody>
          <a:bodyPr wrap="square" lIns="0" tIns="0" rIns="0" bIns="0" rtlCol="0" anchor="ctr"/>
          <a:lstStyle/>
          <a:p>
            <a:pPr algn="ctr" indent="0" marL="0">
              <a:buNone/>
            </a:pPr>
            <a:r>
              <a:rPr lang="en-US" sz="900" dirty="0">
                <a:solidFill>
                  <a:srgbClr val="5A6472"/>
                </a:solidFill>
                <a:latin typeface="Calibri" pitchFamily="34" charset="0"/>
                <a:ea typeface="Calibri" pitchFamily="34" charset="-122"/>
                <a:cs typeface="Calibri" pitchFamily="34" charset="-120"/>
              </a:rPr>
              <a:t>dimension</a:t>
            </a:r>
            <a:endParaRPr lang="en-US" sz="900" dirty="0"/>
          </a:p>
        </p:txBody>
      </p:sp>
      <p:sp>
        <p:nvSpPr>
          <p:cNvPr id="25" name="Shape 23"/>
          <p:cNvSpPr/>
          <p:nvPr/>
        </p:nvSpPr>
        <p:spPr>
          <a:xfrm>
            <a:off x="3401568" y="5276088"/>
            <a:ext cx="1828800" cy="658368"/>
          </a:xfrm>
          <a:prstGeom prst="roundRect">
            <a:avLst>
              <a:gd name="adj" fmla="val 8333"/>
            </a:avLst>
          </a:prstGeom>
          <a:solidFill>
            <a:srgbClr val="E8EDF9"/>
          </a:solidFill>
          <a:ln/>
          <a:effectLst>
            <a:outerShdw sx="100000" sy="100000" kx="0" ky="0" algn="bl" rotWithShape="0" blurRad="127000" dist="25400" dir="5400000">
              <a:srgbClr val="1E2761">
                <a:alpha val="13000"/>
              </a:srgbClr>
            </a:outerShdw>
          </a:effectLst>
        </p:spPr>
      </p:sp>
      <p:sp>
        <p:nvSpPr>
          <p:cNvPr id="26" name="Text 24"/>
          <p:cNvSpPr/>
          <p:nvPr/>
        </p:nvSpPr>
        <p:spPr>
          <a:xfrm>
            <a:off x="3401568" y="5349240"/>
            <a:ext cx="1828800" cy="2743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Discount Band</a:t>
            </a:r>
            <a:endParaRPr lang="en-US" sz="1200" dirty="0"/>
          </a:p>
        </p:txBody>
      </p:sp>
      <p:sp>
        <p:nvSpPr>
          <p:cNvPr id="27" name="Text 25"/>
          <p:cNvSpPr/>
          <p:nvPr/>
        </p:nvSpPr>
        <p:spPr>
          <a:xfrm>
            <a:off x="3401568" y="5623560"/>
            <a:ext cx="1828800" cy="201168"/>
          </a:xfrm>
          <a:prstGeom prst="rect">
            <a:avLst/>
          </a:prstGeom>
          <a:noFill/>
          <a:ln/>
        </p:spPr>
        <p:txBody>
          <a:bodyPr wrap="square" lIns="0" tIns="0" rIns="0" bIns="0" rtlCol="0" anchor="ctr"/>
          <a:lstStyle/>
          <a:p>
            <a:pPr algn="ctr" indent="0" marL="0">
              <a:buNone/>
            </a:pPr>
            <a:r>
              <a:rPr lang="en-US" sz="900" dirty="0">
                <a:solidFill>
                  <a:srgbClr val="5A6472"/>
                </a:solidFill>
                <a:latin typeface="Calibri" pitchFamily="34" charset="0"/>
                <a:ea typeface="Calibri" pitchFamily="34" charset="-122"/>
                <a:cs typeface="Calibri" pitchFamily="34" charset="-120"/>
              </a:rPr>
              <a:t>dimension</a:t>
            </a:r>
            <a:endParaRPr lang="en-US" sz="900" dirty="0"/>
          </a:p>
        </p:txBody>
      </p:sp>
      <p:sp>
        <p:nvSpPr>
          <p:cNvPr id="28" name="Text 26"/>
          <p:cNvSpPr/>
          <p:nvPr/>
        </p:nvSpPr>
        <p:spPr>
          <a:xfrm>
            <a:off x="566928" y="6144768"/>
            <a:ext cx="6583680" cy="274320"/>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All relationships one-to-many, single direction</a:t>
            </a:r>
            <a:endParaRPr lang="en-US" sz="1100" dirty="0"/>
          </a:p>
        </p:txBody>
      </p:sp>
      <p:sp>
        <p:nvSpPr>
          <p:cNvPr id="29" name="Shape 27"/>
          <p:cNvSpPr/>
          <p:nvPr/>
        </p:nvSpPr>
        <p:spPr>
          <a:xfrm>
            <a:off x="7516368" y="1371600"/>
            <a:ext cx="4108399" cy="4626864"/>
          </a:xfrm>
          <a:prstGeom prst="roundRect">
            <a:avLst>
              <a:gd name="adj" fmla="val 1558"/>
            </a:avLst>
          </a:prstGeom>
          <a:solidFill>
            <a:srgbClr val="E8EDF9"/>
          </a:solidFill>
          <a:ln/>
          <a:effectLst>
            <a:outerShdw sx="100000" sy="100000" kx="0" ky="0" algn="bl" rotWithShape="0" blurRad="127000" dist="25400" dir="5400000">
              <a:srgbClr val="1E2761">
                <a:alpha val="13000"/>
              </a:srgbClr>
            </a:outerShdw>
          </a:effectLst>
        </p:spPr>
      </p:sp>
      <p:sp>
        <p:nvSpPr>
          <p:cNvPr id="30" name="Text 28"/>
          <p:cNvSpPr/>
          <p:nvPr/>
        </p:nvSpPr>
        <p:spPr>
          <a:xfrm>
            <a:off x="7772400" y="1609344"/>
            <a:ext cx="3596335" cy="274320"/>
          </a:xfrm>
          <a:prstGeom prst="rect">
            <a:avLst/>
          </a:prstGeom>
          <a:noFill/>
          <a:ln/>
        </p:spPr>
        <p:txBody>
          <a:bodyPr wrap="square" lIns="0" tIns="0" rIns="0" bIns="0" rtlCol="0" anchor="ctr"/>
          <a:lstStyle/>
          <a:p>
            <a:pPr indent="0" marL="0">
              <a:buNone/>
            </a:pPr>
            <a:r>
              <a:rPr lang="en-US" sz="1100" b="1" spc="140" kern="0" dirty="0">
                <a:solidFill>
                  <a:srgbClr val="3C5BA9"/>
                </a:solidFill>
                <a:latin typeface="Calibri" pitchFamily="34" charset="0"/>
                <a:ea typeface="Calibri" pitchFamily="34" charset="-122"/>
                <a:cs typeface="Calibri" pitchFamily="34" charset="-120"/>
              </a:rPr>
              <a:t>Measures that did the work</a:t>
            </a:r>
            <a:endParaRPr lang="en-US" sz="1100" dirty="0"/>
          </a:p>
        </p:txBody>
      </p:sp>
      <p:sp>
        <p:nvSpPr>
          <p:cNvPr id="31" name="Text 29"/>
          <p:cNvSpPr/>
          <p:nvPr/>
        </p:nvSpPr>
        <p:spPr>
          <a:xfrm>
            <a:off x="7772400" y="2011680"/>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COGS Ratio %</a:t>
            </a:r>
            <a:endParaRPr lang="en-US" sz="1100" dirty="0"/>
          </a:p>
        </p:txBody>
      </p:sp>
      <p:sp>
        <p:nvSpPr>
          <p:cNvPr id="32" name="Text 30"/>
          <p:cNvSpPr/>
          <p:nvPr/>
        </p:nvSpPr>
        <p:spPr>
          <a:xfrm>
            <a:off x="7772400" y="2240280"/>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Exposed the Enterprise loss at 103.1%</a:t>
            </a:r>
            <a:endParaRPr lang="en-US" sz="1000" dirty="0"/>
          </a:p>
        </p:txBody>
      </p:sp>
      <p:sp>
        <p:nvSpPr>
          <p:cNvPr id="33" name="Text 31"/>
          <p:cNvSpPr/>
          <p:nvPr/>
        </p:nvSpPr>
        <p:spPr>
          <a:xfrm>
            <a:off x="7772400" y="2670048"/>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Discount Rate %</a:t>
            </a:r>
            <a:endParaRPr lang="en-US" sz="1100" dirty="0"/>
          </a:p>
        </p:txBody>
      </p:sp>
      <p:sp>
        <p:nvSpPr>
          <p:cNvPr id="34" name="Text 32"/>
          <p:cNvSpPr/>
          <p:nvPr/>
        </p:nvSpPr>
        <p:spPr>
          <a:xfrm>
            <a:off x="7772400" y="2898648"/>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Quantified the $9.2 M leak</a:t>
            </a:r>
            <a:endParaRPr lang="en-US" sz="1000" dirty="0"/>
          </a:p>
        </p:txBody>
      </p:sp>
      <p:sp>
        <p:nvSpPr>
          <p:cNvPr id="35" name="Text 33"/>
          <p:cNvSpPr/>
          <p:nvPr/>
        </p:nvSpPr>
        <p:spPr>
          <a:xfrm>
            <a:off x="7772400" y="3328416"/>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Profit Margin %</a:t>
            </a:r>
            <a:endParaRPr lang="en-US" sz="1100" dirty="0"/>
          </a:p>
        </p:txBody>
      </p:sp>
      <p:sp>
        <p:nvSpPr>
          <p:cNvPr id="36" name="Text 34"/>
          <p:cNvSpPr/>
          <p:nvPr/>
        </p:nvSpPr>
        <p:spPr>
          <a:xfrm>
            <a:off x="7772400" y="3557016"/>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Paired with every revenue visual</a:t>
            </a:r>
            <a:endParaRPr lang="en-US" sz="1000" dirty="0"/>
          </a:p>
        </p:txBody>
      </p:sp>
      <p:sp>
        <p:nvSpPr>
          <p:cNvPr id="37" name="Text 35"/>
          <p:cNvSpPr/>
          <p:nvPr/>
        </p:nvSpPr>
        <p:spPr>
          <a:xfrm>
            <a:off x="7772400" y="3986784"/>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Net Sales YoY %</a:t>
            </a:r>
            <a:endParaRPr lang="en-US" sz="1100" dirty="0"/>
          </a:p>
        </p:txBody>
      </p:sp>
      <p:sp>
        <p:nvSpPr>
          <p:cNvPr id="38" name="Text 36"/>
          <p:cNvSpPr/>
          <p:nvPr/>
        </p:nvSpPr>
        <p:spPr>
          <a:xfrm>
            <a:off x="7772400" y="4215384"/>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Guarded with ISBLANK so the partial 2013 doesn't fake a spike</a:t>
            </a:r>
            <a:endParaRPr lang="en-US" sz="1000" dirty="0"/>
          </a:p>
        </p:txBody>
      </p:sp>
      <p:sp>
        <p:nvSpPr>
          <p:cNvPr id="39" name="Text 37"/>
          <p:cNvSpPr/>
          <p:nvPr/>
        </p:nvSpPr>
        <p:spPr>
          <a:xfrm>
            <a:off x="7772400" y="4645152"/>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 of Total Sales</a:t>
            </a:r>
            <a:endParaRPr lang="en-US" sz="1100" dirty="0"/>
          </a:p>
        </p:txBody>
      </p:sp>
      <p:sp>
        <p:nvSpPr>
          <p:cNvPr id="40" name="Text 38"/>
          <p:cNvSpPr/>
          <p:nvPr/>
        </p:nvSpPr>
        <p:spPr>
          <a:xfrm>
            <a:off x="7772400" y="4873752"/>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REMOVEFILTERS for a stable denominator</a:t>
            </a:r>
            <a:endParaRPr lang="en-US" sz="1000" dirty="0"/>
          </a:p>
        </p:txBody>
      </p:sp>
      <p:sp>
        <p:nvSpPr>
          <p:cNvPr id="41" name="Text 39"/>
          <p:cNvSpPr/>
          <p:nvPr/>
        </p:nvSpPr>
        <p:spPr>
          <a:xfrm>
            <a:off x="7772400" y="5303520"/>
            <a:ext cx="3596335" cy="237744"/>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Budget Variance</a:t>
            </a:r>
            <a:endParaRPr lang="en-US" sz="1100" dirty="0"/>
          </a:p>
        </p:txBody>
      </p:sp>
      <p:sp>
        <p:nvSpPr>
          <p:cNvPr id="42" name="Text 40"/>
          <p:cNvSpPr/>
          <p:nvPr/>
        </p:nvSpPr>
        <p:spPr>
          <a:xfrm>
            <a:off x="7772400" y="5532120"/>
            <a:ext cx="3596335" cy="329184"/>
          </a:xfrm>
          <a:prstGeom prst="rect">
            <a:avLst/>
          </a:prstGeom>
          <a:noFill/>
          <a:ln/>
        </p:spPr>
        <p:txBody>
          <a:bodyPr wrap="square" lIns="0" tIns="0" rIns="0" bIns="0" rtlCol="0" anchor="ctr"/>
          <a:lstStyle/>
          <a:p>
            <a:pPr indent="0" marL="0">
              <a:buNone/>
            </a:pPr>
            <a:r>
              <a:rPr lang="en-US" sz="1000" dirty="0">
                <a:solidFill>
                  <a:srgbClr val="5A6472"/>
                </a:solidFill>
                <a:latin typeface="Calibri" pitchFamily="34" charset="0"/>
                <a:ea typeface="Calibri" pitchFamily="34" charset="-122"/>
                <a:cs typeface="Calibri" pitchFamily="34" charset="-120"/>
              </a:rPr>
              <a:t>Scaffolded — works the day a plan table arrives</a:t>
            </a:r>
            <a:endParaRPr lang="en-US" sz="1000" dirty="0"/>
          </a:p>
        </p:txBody>
      </p:sp>
      <p:sp>
        <p:nvSpPr>
          <p:cNvPr id="43" name="Text 41"/>
          <p:cNvSpPr/>
          <p:nvPr/>
        </p:nvSpPr>
        <p:spPr>
          <a:xfrm>
            <a:off x="7516368" y="6144768"/>
            <a:ext cx="4108399" cy="45720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DIVIDE is used throughout rather than the / operator — it returns blank on a zero denominator instead of an error, which matters the moment a slicer produces an empty selection.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3C5BA9"/>
                </a:solidFill>
                <a:latin typeface="Calibri" pitchFamily="34" charset="0"/>
                <a:ea typeface="Calibri" pitchFamily="34" charset="-122"/>
                <a:cs typeface="Calibri" pitchFamily="34" charset="-120"/>
              </a:rPr>
              <a:t>RECOMMENDATIONS</a:t>
            </a:r>
            <a:endParaRPr lang="en-US" sz="1100" dirty="0"/>
          </a:p>
        </p:txBody>
      </p:sp>
      <p:sp>
        <p:nvSpPr>
          <p:cNvPr id="3" name="Text 1"/>
          <p:cNvSpPr/>
          <p:nvPr/>
        </p:nvSpPr>
        <p:spPr>
          <a:xfrm>
            <a:off x="566928" y="621792"/>
            <a:ext cx="11057839" cy="71323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What to do about it</a:t>
            </a:r>
            <a:endParaRPr lang="en-US" sz="3000" dirty="0"/>
          </a:p>
        </p:txBody>
      </p:sp>
      <p:sp>
        <p:nvSpPr>
          <p:cNvPr id="4" name="Shape 2"/>
          <p:cNvSpPr/>
          <p:nvPr/>
        </p:nvSpPr>
        <p:spPr>
          <a:xfrm>
            <a:off x="566928" y="1536192"/>
            <a:ext cx="11057839" cy="1042416"/>
          </a:xfrm>
          <a:prstGeom prst="roundRect">
            <a:avLst>
              <a:gd name="adj" fmla="val 6140"/>
            </a:avLst>
          </a:prstGeom>
          <a:solidFill>
            <a:srgbClr val="E8EDF9"/>
          </a:solidFill>
          <a:ln/>
          <a:effectLst>
            <a:outerShdw sx="100000" sy="100000" kx="0" ky="0" algn="bl" rotWithShape="0" blurRad="127000" dist="25400" dir="5400000">
              <a:srgbClr val="1E2761">
                <a:alpha val="13000"/>
              </a:srgbClr>
            </a:outerShdw>
          </a:effectLst>
        </p:spPr>
      </p:sp>
      <p:sp>
        <p:nvSpPr>
          <p:cNvPr id="5" name="Shape 3"/>
          <p:cNvSpPr/>
          <p:nvPr/>
        </p:nvSpPr>
        <p:spPr>
          <a:xfrm>
            <a:off x="841248" y="1856232"/>
            <a:ext cx="402336" cy="402336"/>
          </a:xfrm>
          <a:prstGeom prst="ellipse">
            <a:avLst/>
          </a:prstGeom>
          <a:solidFill>
            <a:srgbClr val="C0392B"/>
          </a:solidFill>
          <a:ln/>
        </p:spPr>
      </p:sp>
      <p:sp>
        <p:nvSpPr>
          <p:cNvPr id="6" name="Text 4"/>
          <p:cNvSpPr/>
          <p:nvPr/>
        </p:nvSpPr>
        <p:spPr>
          <a:xfrm>
            <a:off x="841248" y="1856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44752" y="1700784"/>
            <a:ext cx="4206240" cy="310896"/>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Reprice or exit Enterprise</a:t>
            </a:r>
            <a:endParaRPr lang="en-US" sz="1650" dirty="0"/>
          </a:p>
        </p:txBody>
      </p:sp>
      <p:sp>
        <p:nvSpPr>
          <p:cNvPr id="8" name="Text 6"/>
          <p:cNvSpPr/>
          <p:nvPr/>
        </p:nvSpPr>
        <p:spPr>
          <a:xfrm>
            <a:off x="1444752" y="2029968"/>
            <a:ext cx="6126480" cy="475488"/>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Model a price floor at COGS + 12% before renewing contracts. Growing this segment at current economics increases the loss.</a:t>
            </a:r>
            <a:endParaRPr lang="en-US" sz="1150" dirty="0"/>
          </a:p>
        </p:txBody>
      </p:sp>
      <p:sp>
        <p:nvSpPr>
          <p:cNvPr id="9" name="Text 7"/>
          <p:cNvSpPr/>
          <p:nvPr/>
        </p:nvSpPr>
        <p:spPr>
          <a:xfrm>
            <a:off x="7790688" y="1874520"/>
            <a:ext cx="3559759" cy="365760"/>
          </a:xfrm>
          <a:prstGeom prst="rect">
            <a:avLst/>
          </a:prstGeom>
          <a:noFill/>
          <a:ln/>
        </p:spPr>
        <p:txBody>
          <a:bodyPr wrap="square" lIns="0" tIns="0" rIns="0" bIns="0" rtlCol="0" anchor="ctr"/>
          <a:lstStyle/>
          <a:p>
            <a:pPr algn="r" indent="0" marL="0">
              <a:buNone/>
            </a:pPr>
            <a:r>
              <a:rPr lang="en-US" sz="1500" b="1" dirty="0">
                <a:solidFill>
                  <a:srgbClr val="C0392B"/>
                </a:solidFill>
                <a:latin typeface="Cambria" pitchFamily="34" charset="0"/>
                <a:ea typeface="Cambria" pitchFamily="34" charset="-122"/>
                <a:cs typeface="Cambria" pitchFamily="34" charset="-120"/>
              </a:rPr>
              <a:t>$0.61 M loss reversed</a:t>
            </a:r>
            <a:endParaRPr lang="en-US" sz="1500" dirty="0"/>
          </a:p>
        </p:txBody>
      </p:sp>
      <p:sp>
        <p:nvSpPr>
          <p:cNvPr id="10" name="Shape 8"/>
          <p:cNvSpPr/>
          <p:nvPr/>
        </p:nvSpPr>
        <p:spPr>
          <a:xfrm>
            <a:off x="566928" y="2706624"/>
            <a:ext cx="11057839" cy="1042416"/>
          </a:xfrm>
          <a:prstGeom prst="roundRect">
            <a:avLst>
              <a:gd name="adj" fmla="val 6140"/>
            </a:avLst>
          </a:prstGeom>
          <a:solidFill>
            <a:srgbClr val="FFFFFF"/>
          </a:solidFill>
          <a:ln/>
          <a:effectLst>
            <a:outerShdw sx="100000" sy="100000" kx="0" ky="0" algn="bl" rotWithShape="0" blurRad="127000" dist="25400" dir="5400000">
              <a:srgbClr val="1E2761">
                <a:alpha val="13000"/>
              </a:srgbClr>
            </a:outerShdw>
          </a:effectLst>
        </p:spPr>
      </p:sp>
      <p:sp>
        <p:nvSpPr>
          <p:cNvPr id="11" name="Shape 9"/>
          <p:cNvSpPr/>
          <p:nvPr/>
        </p:nvSpPr>
        <p:spPr>
          <a:xfrm>
            <a:off x="841248" y="3026664"/>
            <a:ext cx="402336" cy="402336"/>
          </a:xfrm>
          <a:prstGeom prst="ellipse">
            <a:avLst/>
          </a:prstGeom>
          <a:solidFill>
            <a:srgbClr val="E8A33D"/>
          </a:solidFill>
          <a:ln/>
        </p:spPr>
      </p:sp>
      <p:sp>
        <p:nvSpPr>
          <p:cNvPr id="12" name="Text 10"/>
          <p:cNvSpPr/>
          <p:nvPr/>
        </p:nvSpPr>
        <p:spPr>
          <a:xfrm>
            <a:off x="841248" y="3026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444752" y="2871216"/>
            <a:ext cx="4206240" cy="310896"/>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Cap the High discount band</a:t>
            </a:r>
            <a:endParaRPr lang="en-US" sz="1650" dirty="0"/>
          </a:p>
        </p:txBody>
      </p:sp>
      <p:sp>
        <p:nvSpPr>
          <p:cNvPr id="14" name="Text 12"/>
          <p:cNvSpPr/>
          <p:nvPr/>
        </p:nvSpPr>
        <p:spPr>
          <a:xfrm>
            <a:off x="1444752" y="3200400"/>
            <a:ext cx="6126480" cy="475488"/>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Move a third of High-band orders to Medium. Requires approval thresholds, not a pricing change.</a:t>
            </a:r>
            <a:endParaRPr lang="en-US" sz="1150" dirty="0"/>
          </a:p>
        </p:txBody>
      </p:sp>
      <p:sp>
        <p:nvSpPr>
          <p:cNvPr id="15" name="Text 13"/>
          <p:cNvSpPr/>
          <p:nvPr/>
        </p:nvSpPr>
        <p:spPr>
          <a:xfrm>
            <a:off x="7790688" y="3044952"/>
            <a:ext cx="3559759" cy="365760"/>
          </a:xfrm>
          <a:prstGeom prst="rect">
            <a:avLst/>
          </a:prstGeom>
          <a:noFill/>
          <a:ln/>
        </p:spPr>
        <p:txBody>
          <a:bodyPr wrap="square" lIns="0" tIns="0" rIns="0" bIns="0" rtlCol="0" anchor="ctr"/>
          <a:lstStyle/>
          <a:p>
            <a:pPr algn="r" indent="0" marL="0">
              <a:buNone/>
            </a:pPr>
            <a:r>
              <a:rPr lang="en-US" sz="1500" b="1" dirty="0">
                <a:solidFill>
                  <a:srgbClr val="E8A33D"/>
                </a:solidFill>
                <a:latin typeface="Cambria" pitchFamily="34" charset="0"/>
                <a:ea typeface="Cambria" pitchFamily="34" charset="-122"/>
                <a:cs typeface="Cambria" pitchFamily="34" charset="-120"/>
              </a:rPr>
              <a:t>$1.5 – 1.8 M recovered</a:t>
            </a:r>
            <a:endParaRPr lang="en-US" sz="1500" dirty="0"/>
          </a:p>
        </p:txBody>
      </p:sp>
      <p:sp>
        <p:nvSpPr>
          <p:cNvPr id="16" name="Shape 14"/>
          <p:cNvSpPr/>
          <p:nvPr/>
        </p:nvSpPr>
        <p:spPr>
          <a:xfrm>
            <a:off x="566928" y="3877056"/>
            <a:ext cx="11057839" cy="1042416"/>
          </a:xfrm>
          <a:prstGeom prst="roundRect">
            <a:avLst>
              <a:gd name="adj" fmla="val 6140"/>
            </a:avLst>
          </a:prstGeom>
          <a:solidFill>
            <a:srgbClr val="E8EDF9"/>
          </a:solidFill>
          <a:ln/>
          <a:effectLst>
            <a:outerShdw sx="100000" sy="100000" kx="0" ky="0" algn="bl" rotWithShape="0" blurRad="127000" dist="25400" dir="5400000">
              <a:srgbClr val="1E2761">
                <a:alpha val="13000"/>
              </a:srgbClr>
            </a:outerShdw>
          </a:effectLst>
        </p:spPr>
      </p:sp>
      <p:sp>
        <p:nvSpPr>
          <p:cNvPr id="17" name="Shape 15"/>
          <p:cNvSpPr/>
          <p:nvPr/>
        </p:nvSpPr>
        <p:spPr>
          <a:xfrm>
            <a:off x="841248" y="4197096"/>
            <a:ext cx="402336" cy="402336"/>
          </a:xfrm>
          <a:prstGeom prst="ellipse">
            <a:avLst/>
          </a:prstGeom>
          <a:solidFill>
            <a:srgbClr val="00A896"/>
          </a:solidFill>
          <a:ln/>
        </p:spPr>
      </p:sp>
      <p:sp>
        <p:nvSpPr>
          <p:cNvPr id="18" name="Text 16"/>
          <p:cNvSpPr/>
          <p:nvPr/>
        </p:nvSpPr>
        <p:spPr>
          <a:xfrm>
            <a:off x="841248" y="41970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444752" y="4041648"/>
            <a:ext cx="4206240" cy="310896"/>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Fund Channel Partners</a:t>
            </a:r>
            <a:endParaRPr lang="en-US" sz="1650" dirty="0"/>
          </a:p>
        </p:txBody>
      </p:sp>
      <p:sp>
        <p:nvSpPr>
          <p:cNvPr id="20" name="Text 18"/>
          <p:cNvSpPr/>
          <p:nvPr/>
        </p:nvSpPr>
        <p:spPr>
          <a:xfrm>
            <a:off x="1444752" y="4370832"/>
            <a:ext cx="6126480" cy="475488"/>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Highest margin in the business at 73.1%, on 1.5% of revenue. The clearest risk-adjusted place for incremental spend.</a:t>
            </a:r>
            <a:endParaRPr lang="en-US" sz="1150" dirty="0"/>
          </a:p>
        </p:txBody>
      </p:sp>
      <p:sp>
        <p:nvSpPr>
          <p:cNvPr id="21" name="Text 19"/>
          <p:cNvSpPr/>
          <p:nvPr/>
        </p:nvSpPr>
        <p:spPr>
          <a:xfrm>
            <a:off x="7790688" y="4215384"/>
            <a:ext cx="3559759" cy="365760"/>
          </a:xfrm>
          <a:prstGeom prst="rect">
            <a:avLst/>
          </a:prstGeom>
          <a:noFill/>
          <a:ln/>
        </p:spPr>
        <p:txBody>
          <a:bodyPr wrap="square" lIns="0" tIns="0" rIns="0" bIns="0" rtlCol="0" anchor="ctr"/>
          <a:lstStyle/>
          <a:p>
            <a:pPr algn="r" indent="0" marL="0">
              <a:buNone/>
            </a:pPr>
            <a:r>
              <a:rPr lang="en-US" sz="1500" b="1" dirty="0">
                <a:solidFill>
                  <a:srgbClr val="00A896"/>
                </a:solidFill>
                <a:latin typeface="Cambria" pitchFamily="34" charset="0"/>
                <a:ea typeface="Cambria" pitchFamily="34" charset="-122"/>
                <a:cs typeface="Cambria" pitchFamily="34" charset="-120"/>
              </a:rPr>
              <a:t>Best unit economics</a:t>
            </a:r>
            <a:endParaRPr lang="en-US" sz="1500" dirty="0"/>
          </a:p>
        </p:txBody>
      </p:sp>
      <p:sp>
        <p:nvSpPr>
          <p:cNvPr id="22" name="Shape 20"/>
          <p:cNvSpPr/>
          <p:nvPr/>
        </p:nvSpPr>
        <p:spPr>
          <a:xfrm>
            <a:off x="566928" y="5047488"/>
            <a:ext cx="11057839" cy="1042416"/>
          </a:xfrm>
          <a:prstGeom prst="roundRect">
            <a:avLst>
              <a:gd name="adj" fmla="val 6140"/>
            </a:avLst>
          </a:prstGeom>
          <a:solidFill>
            <a:srgbClr val="FFFFFF"/>
          </a:solidFill>
          <a:ln/>
          <a:effectLst>
            <a:outerShdw sx="100000" sy="100000" kx="0" ky="0" algn="bl" rotWithShape="0" blurRad="127000" dist="25400" dir="5400000">
              <a:srgbClr val="1E2761">
                <a:alpha val="13000"/>
              </a:srgbClr>
            </a:outerShdw>
          </a:effectLst>
        </p:spPr>
      </p:sp>
      <p:sp>
        <p:nvSpPr>
          <p:cNvPr id="23" name="Shape 21"/>
          <p:cNvSpPr/>
          <p:nvPr/>
        </p:nvSpPr>
        <p:spPr>
          <a:xfrm>
            <a:off x="841248" y="5367528"/>
            <a:ext cx="402336" cy="402336"/>
          </a:xfrm>
          <a:prstGeom prst="ellipse">
            <a:avLst/>
          </a:prstGeom>
          <a:solidFill>
            <a:srgbClr val="3C5BA9"/>
          </a:solidFill>
          <a:ln/>
        </p:spPr>
      </p:sp>
      <p:sp>
        <p:nvSpPr>
          <p:cNvPr id="24" name="Text 22"/>
          <p:cNvSpPr/>
          <p:nvPr/>
        </p:nvSpPr>
        <p:spPr>
          <a:xfrm>
            <a:off x="841248" y="53675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444752" y="5212080"/>
            <a:ext cx="4206240" cy="310896"/>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Investigate month-end spikes</a:t>
            </a:r>
            <a:endParaRPr lang="en-US" sz="1650" dirty="0"/>
          </a:p>
        </p:txBody>
      </p:sp>
      <p:sp>
        <p:nvSpPr>
          <p:cNvPr id="26" name="Text 24"/>
          <p:cNvSpPr/>
          <p:nvPr/>
        </p:nvSpPr>
        <p:spPr>
          <a:xfrm>
            <a:off x="1444752" y="5541264"/>
            <a:ext cx="6126480" cy="475488"/>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Confirm whether Oct/Dec volume is demand or pull-forward before it enters next year's forecast.</a:t>
            </a:r>
            <a:endParaRPr lang="en-US" sz="1150" dirty="0"/>
          </a:p>
        </p:txBody>
      </p:sp>
      <p:sp>
        <p:nvSpPr>
          <p:cNvPr id="27" name="Text 25"/>
          <p:cNvSpPr/>
          <p:nvPr/>
        </p:nvSpPr>
        <p:spPr>
          <a:xfrm>
            <a:off x="7790688" y="5385816"/>
            <a:ext cx="3559759" cy="365760"/>
          </a:xfrm>
          <a:prstGeom prst="rect">
            <a:avLst/>
          </a:prstGeom>
          <a:noFill/>
          <a:ln/>
        </p:spPr>
        <p:txBody>
          <a:bodyPr wrap="square" lIns="0" tIns="0" rIns="0" bIns="0" rtlCol="0" anchor="ctr"/>
          <a:lstStyle/>
          <a:p>
            <a:pPr algn="r" indent="0" marL="0">
              <a:buNone/>
            </a:pPr>
            <a:r>
              <a:rPr lang="en-US" sz="1500" b="1" dirty="0">
                <a:solidFill>
                  <a:srgbClr val="3C5BA9"/>
                </a:solidFill>
                <a:latin typeface="Cambria" pitchFamily="34" charset="0"/>
                <a:ea typeface="Cambria" pitchFamily="34" charset="-122"/>
                <a:cs typeface="Cambria" pitchFamily="34" charset="-120"/>
              </a:rPr>
              <a:t>21% of revenue at stake</a:t>
            </a:r>
            <a:endParaRPr lang="en-US" sz="1500" dirty="0"/>
          </a:p>
        </p:txBody>
      </p:sp>
      <p:sp>
        <p:nvSpPr>
          <p:cNvPr id="28" name="Text 26"/>
          <p:cNvSpPr/>
          <p:nvPr/>
        </p:nvSpPr>
        <p:spPr>
          <a:xfrm>
            <a:off x="566928" y="6309360"/>
            <a:ext cx="11057839" cy="365760"/>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Estimates assume constant volume. The discount figure is the most defensible of the four — it follows directly from the observed margin gap between bands.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66928" y="786384"/>
            <a:ext cx="11057839" cy="274320"/>
          </a:xfrm>
          <a:prstGeom prst="rect">
            <a:avLst/>
          </a:prstGeom>
          <a:noFill/>
          <a:ln/>
        </p:spPr>
        <p:txBody>
          <a:bodyPr wrap="square" lIns="0" tIns="0" rIns="0" bIns="0" rtlCol="0" anchor="ctr"/>
          <a:lstStyle/>
          <a:p>
            <a:pPr indent="0" marL="0">
              <a:buNone/>
            </a:pPr>
            <a:r>
              <a:rPr lang="en-US" sz="1100" b="1" spc="300" kern="0" dirty="0">
                <a:solidFill>
                  <a:srgbClr val="00A896"/>
                </a:solidFill>
                <a:latin typeface="Calibri" pitchFamily="34" charset="0"/>
                <a:ea typeface="Calibri" pitchFamily="34" charset="-122"/>
                <a:cs typeface="Calibri" pitchFamily="34" charset="-120"/>
              </a:rPr>
              <a:t>EXPLORE THE PROJECT</a:t>
            </a:r>
            <a:endParaRPr lang="en-US" sz="1100" dirty="0"/>
          </a:p>
        </p:txBody>
      </p:sp>
      <p:sp>
        <p:nvSpPr>
          <p:cNvPr id="3" name="Text 1"/>
          <p:cNvSpPr/>
          <p:nvPr/>
        </p:nvSpPr>
        <p:spPr>
          <a:xfrm>
            <a:off x="566928" y="1115568"/>
            <a:ext cx="7863840" cy="62179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Everything here is reproducible</a:t>
            </a:r>
            <a:endParaRPr lang="en-US" sz="3200" dirty="0"/>
          </a:p>
        </p:txBody>
      </p:sp>
      <p:sp>
        <p:nvSpPr>
          <p:cNvPr id="4" name="Text 2"/>
          <p:cNvSpPr/>
          <p:nvPr/>
        </p:nvSpPr>
        <p:spPr>
          <a:xfrm>
            <a:off x="566928" y="1828800"/>
            <a:ext cx="6949440" cy="566928"/>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figure in this deck comes from a single script that reads the source data directly, so any number can be checked without opening Power BI.</a:t>
            </a:r>
            <a:endParaRPr lang="en-US" sz="1400" dirty="0"/>
          </a:p>
        </p:txBody>
      </p:sp>
      <p:sp>
        <p:nvSpPr>
          <p:cNvPr id="5" name="Shape 3"/>
          <p:cNvSpPr/>
          <p:nvPr/>
        </p:nvSpPr>
        <p:spPr>
          <a:xfrm>
            <a:off x="566928" y="2862072"/>
            <a:ext cx="146304" cy="146304"/>
          </a:xfrm>
          <a:prstGeom prst="ellipse">
            <a:avLst/>
          </a:prstGeom>
          <a:solidFill>
            <a:srgbClr val="00A896"/>
          </a:solidFill>
          <a:ln/>
        </p:spPr>
      </p:sp>
      <p:sp>
        <p:nvSpPr>
          <p:cNvPr id="6" name="Text 4"/>
          <p:cNvSpPr/>
          <p:nvPr/>
        </p:nvSpPr>
        <p:spPr>
          <a:xfrm>
            <a:off x="877824" y="2743200"/>
            <a:ext cx="3108960"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powerbi/</a:t>
            </a:r>
            <a:endParaRPr lang="en-US" sz="1200" dirty="0"/>
          </a:p>
        </p:txBody>
      </p:sp>
      <p:sp>
        <p:nvSpPr>
          <p:cNvPr id="7" name="Text 5"/>
          <p:cNvSpPr/>
          <p:nvPr/>
        </p:nvSpPr>
        <p:spPr>
          <a:xfrm>
            <a:off x="4096512" y="2743200"/>
            <a:ext cx="44805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The report in PBIP format — JSON, so it diffs in a pull request</a:t>
            </a:r>
            <a:endParaRPr lang="en-US" sz="1150" dirty="0"/>
          </a:p>
        </p:txBody>
      </p:sp>
      <p:sp>
        <p:nvSpPr>
          <p:cNvPr id="8" name="Shape 6"/>
          <p:cNvSpPr/>
          <p:nvPr/>
        </p:nvSpPr>
        <p:spPr>
          <a:xfrm>
            <a:off x="566928" y="3611880"/>
            <a:ext cx="146304" cy="146304"/>
          </a:xfrm>
          <a:prstGeom prst="ellipse">
            <a:avLst/>
          </a:prstGeom>
          <a:solidFill>
            <a:srgbClr val="00A896"/>
          </a:solidFill>
          <a:ln/>
        </p:spPr>
      </p:sp>
      <p:sp>
        <p:nvSpPr>
          <p:cNvPr id="9" name="Text 7"/>
          <p:cNvSpPr/>
          <p:nvPr/>
        </p:nvSpPr>
        <p:spPr>
          <a:xfrm>
            <a:off x="877824" y="3493008"/>
            <a:ext cx="3108960"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data/</a:t>
            </a:r>
            <a:endParaRPr lang="en-US" sz="1200" dirty="0"/>
          </a:p>
        </p:txBody>
      </p:sp>
      <p:sp>
        <p:nvSpPr>
          <p:cNvPr id="10" name="Text 8"/>
          <p:cNvSpPr/>
          <p:nvPr/>
        </p:nvSpPr>
        <p:spPr>
          <a:xfrm>
            <a:off x="4096512" y="3493008"/>
            <a:ext cx="44805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Source workbook and flattened CSV extract</a:t>
            </a:r>
            <a:endParaRPr lang="en-US" sz="1150" dirty="0"/>
          </a:p>
        </p:txBody>
      </p:sp>
      <p:sp>
        <p:nvSpPr>
          <p:cNvPr id="11" name="Shape 9"/>
          <p:cNvSpPr/>
          <p:nvPr/>
        </p:nvSpPr>
        <p:spPr>
          <a:xfrm>
            <a:off x="566928" y="4361688"/>
            <a:ext cx="146304" cy="146304"/>
          </a:xfrm>
          <a:prstGeom prst="ellipse">
            <a:avLst/>
          </a:prstGeom>
          <a:solidFill>
            <a:srgbClr val="00A896"/>
          </a:solidFill>
          <a:ln/>
        </p:spPr>
      </p:sp>
      <p:sp>
        <p:nvSpPr>
          <p:cNvPr id="12" name="Text 10"/>
          <p:cNvSpPr/>
          <p:nvPr/>
        </p:nvSpPr>
        <p:spPr>
          <a:xfrm>
            <a:off x="877824" y="4242816"/>
            <a:ext cx="3108960"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docs/</a:t>
            </a:r>
            <a:endParaRPr lang="en-US" sz="1200" dirty="0"/>
          </a:p>
        </p:txBody>
      </p:sp>
      <p:sp>
        <p:nvSpPr>
          <p:cNvPr id="13" name="Text 11"/>
          <p:cNvSpPr/>
          <p:nvPr/>
        </p:nvSpPr>
        <p:spPr>
          <a:xfrm>
            <a:off x="4096512" y="4242816"/>
            <a:ext cx="44805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Data dictionary, DAX reference, modelling methodology</a:t>
            </a:r>
            <a:endParaRPr lang="en-US" sz="1150" dirty="0"/>
          </a:p>
        </p:txBody>
      </p:sp>
      <p:sp>
        <p:nvSpPr>
          <p:cNvPr id="14" name="Shape 12"/>
          <p:cNvSpPr/>
          <p:nvPr/>
        </p:nvSpPr>
        <p:spPr>
          <a:xfrm>
            <a:off x="566928" y="5111496"/>
            <a:ext cx="146304" cy="146304"/>
          </a:xfrm>
          <a:prstGeom prst="ellipse">
            <a:avLst/>
          </a:prstGeom>
          <a:solidFill>
            <a:srgbClr val="00A896"/>
          </a:solidFill>
          <a:ln/>
        </p:spPr>
      </p:sp>
      <p:sp>
        <p:nvSpPr>
          <p:cNvPr id="15" name="Text 13"/>
          <p:cNvSpPr/>
          <p:nvPr/>
        </p:nvSpPr>
        <p:spPr>
          <a:xfrm>
            <a:off x="877824" y="4992624"/>
            <a:ext cx="3108960"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scripts/profile_data.py</a:t>
            </a:r>
            <a:endParaRPr lang="en-US" sz="1200" dirty="0"/>
          </a:p>
        </p:txBody>
      </p:sp>
      <p:sp>
        <p:nvSpPr>
          <p:cNvPr id="16" name="Text 14"/>
          <p:cNvSpPr/>
          <p:nvPr/>
        </p:nvSpPr>
        <p:spPr>
          <a:xfrm>
            <a:off x="4096512" y="4992624"/>
            <a:ext cx="44805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Regenerates every KPI in this deck from the raw data</a:t>
            </a:r>
            <a:endParaRPr lang="en-US" sz="1150" dirty="0"/>
          </a:p>
        </p:txBody>
      </p:sp>
      <p:sp>
        <p:nvSpPr>
          <p:cNvPr id="17" name="Shape 15"/>
          <p:cNvSpPr/>
          <p:nvPr/>
        </p:nvSpPr>
        <p:spPr>
          <a:xfrm>
            <a:off x="8686800" y="2743200"/>
            <a:ext cx="2937967" cy="3035808"/>
          </a:xfrm>
          <a:prstGeom prst="roundRect">
            <a:avLst>
              <a:gd name="adj" fmla="val 2490"/>
            </a:avLst>
          </a:prstGeom>
          <a:solidFill>
            <a:srgbClr val="1E2761"/>
          </a:solidFill>
          <a:ln/>
        </p:spPr>
      </p:sp>
      <p:sp>
        <p:nvSpPr>
          <p:cNvPr id="18" name="Text 16"/>
          <p:cNvSpPr/>
          <p:nvPr/>
        </p:nvSpPr>
        <p:spPr>
          <a:xfrm>
            <a:off x="8924544" y="2962656"/>
            <a:ext cx="2462479"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$118.7 M</a:t>
            </a:r>
            <a:endParaRPr lang="en-US" sz="2000" dirty="0"/>
          </a:p>
        </p:txBody>
      </p:sp>
      <p:sp>
        <p:nvSpPr>
          <p:cNvPr id="19" name="Text 17"/>
          <p:cNvSpPr/>
          <p:nvPr/>
        </p:nvSpPr>
        <p:spPr>
          <a:xfrm>
            <a:off x="8924544" y="3310128"/>
            <a:ext cx="2462479" cy="219456"/>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net sales</a:t>
            </a:r>
            <a:endParaRPr lang="en-US" sz="1000" dirty="0"/>
          </a:p>
        </p:txBody>
      </p:sp>
      <p:sp>
        <p:nvSpPr>
          <p:cNvPr id="20" name="Text 18"/>
          <p:cNvSpPr/>
          <p:nvPr/>
        </p:nvSpPr>
        <p:spPr>
          <a:xfrm>
            <a:off x="8924544" y="3694176"/>
            <a:ext cx="2462479" cy="365760"/>
          </a:xfrm>
          <a:prstGeom prst="rect">
            <a:avLst/>
          </a:prstGeom>
          <a:noFill/>
          <a:ln/>
        </p:spPr>
        <p:txBody>
          <a:bodyPr wrap="square" lIns="0" tIns="0" rIns="0" bIns="0"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14.2%</a:t>
            </a:r>
            <a:endParaRPr lang="en-US" sz="2000" dirty="0"/>
          </a:p>
        </p:txBody>
      </p:sp>
      <p:sp>
        <p:nvSpPr>
          <p:cNvPr id="21" name="Text 19"/>
          <p:cNvSpPr/>
          <p:nvPr/>
        </p:nvSpPr>
        <p:spPr>
          <a:xfrm>
            <a:off x="8924544" y="4041648"/>
            <a:ext cx="2462479" cy="219456"/>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margin</a:t>
            </a:r>
            <a:endParaRPr lang="en-US" sz="1000" dirty="0"/>
          </a:p>
        </p:txBody>
      </p:sp>
      <p:sp>
        <p:nvSpPr>
          <p:cNvPr id="22" name="Text 20"/>
          <p:cNvSpPr/>
          <p:nvPr/>
        </p:nvSpPr>
        <p:spPr>
          <a:xfrm>
            <a:off x="8924544" y="4425696"/>
            <a:ext cx="2462479"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16</a:t>
            </a:r>
            <a:endParaRPr lang="en-US" sz="2000" dirty="0"/>
          </a:p>
        </p:txBody>
      </p:sp>
      <p:sp>
        <p:nvSpPr>
          <p:cNvPr id="23" name="Text 21"/>
          <p:cNvSpPr/>
          <p:nvPr/>
        </p:nvSpPr>
        <p:spPr>
          <a:xfrm>
            <a:off x="8924544" y="4773168"/>
            <a:ext cx="2462479" cy="219456"/>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months</a:t>
            </a:r>
            <a:endParaRPr lang="en-US" sz="1000" dirty="0"/>
          </a:p>
        </p:txBody>
      </p:sp>
      <p:sp>
        <p:nvSpPr>
          <p:cNvPr id="24" name="Text 22"/>
          <p:cNvSpPr/>
          <p:nvPr/>
        </p:nvSpPr>
        <p:spPr>
          <a:xfrm>
            <a:off x="8924544" y="5157216"/>
            <a:ext cx="2462479"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700</a:t>
            </a:r>
            <a:endParaRPr lang="en-US" sz="2000" dirty="0"/>
          </a:p>
        </p:txBody>
      </p:sp>
      <p:sp>
        <p:nvSpPr>
          <p:cNvPr id="25" name="Text 23"/>
          <p:cNvSpPr/>
          <p:nvPr/>
        </p:nvSpPr>
        <p:spPr>
          <a:xfrm>
            <a:off x="8924544" y="5504688"/>
            <a:ext cx="2462479" cy="219456"/>
          </a:xfrm>
          <a:prstGeom prst="rect">
            <a:avLst/>
          </a:prstGeom>
          <a:noFill/>
          <a:ln/>
        </p:spPr>
        <p:txBody>
          <a:bodyPr wrap="square" lIns="0" tIns="0" rIns="0" bIns="0" rtlCol="0" anchor="ctr"/>
          <a:lstStyle/>
          <a:p>
            <a:pPr indent="0" marL="0">
              <a:buNone/>
            </a:pPr>
            <a:r>
              <a:rPr lang="en-US" sz="1000" dirty="0">
                <a:solidFill>
                  <a:srgbClr val="9AA3B2"/>
                </a:solidFill>
                <a:latin typeface="Calibri" pitchFamily="34" charset="0"/>
                <a:ea typeface="Calibri" pitchFamily="34" charset="-122"/>
                <a:cs typeface="Calibri" pitchFamily="34" charset="-120"/>
              </a:rPr>
              <a:t>records</a:t>
            </a:r>
            <a:endParaRPr lang="en-US" sz="1000" dirty="0"/>
          </a:p>
        </p:txBody>
      </p:sp>
      <p:sp>
        <p:nvSpPr>
          <p:cNvPr id="26" name="Text 24"/>
          <p:cNvSpPr/>
          <p:nvPr/>
        </p:nvSpPr>
        <p:spPr>
          <a:xfrm>
            <a:off x="566928" y="6144768"/>
            <a:ext cx="11057839" cy="274320"/>
          </a:xfrm>
          <a:prstGeom prst="rect">
            <a:avLst/>
          </a:prstGeom>
          <a:noFill/>
          <a:ln/>
        </p:spPr>
        <p:txBody>
          <a:bodyPr wrap="square" lIns="0" tIns="0" rIns="0" bIns="0" rtlCol="0" anchor="ctr"/>
          <a:lstStyle/>
          <a:p>
            <a:pPr indent="0" marL="0">
              <a:buNone/>
            </a:pPr>
            <a:r>
              <a:rPr lang="en-US" sz="1100" dirty="0">
                <a:solidFill>
                  <a:srgbClr val="9AA3B2"/>
                </a:solidFill>
                <a:latin typeface="Calibri" pitchFamily="34" charset="0"/>
                <a:ea typeface="Calibri" pitchFamily="34" charset="-122"/>
                <a:cs typeface="Calibri" pitchFamily="34" charset="-120"/>
              </a:rPr>
              <a:t>Built with Power BI · Power Query (M) · DAX · Python (pandas)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Planning &amp; Analysis Dashboard</dc:title>
  <dc:subject>PptxGenJS Presentation</dc:subject>
  <dc:creator>FP&amp;A Dashboard Project</dc:creator>
  <cp:lastModifiedBy>FP&amp;A Dashboard Project</cp:lastModifiedBy>
  <cp:revision>1</cp:revision>
  <dcterms:created xsi:type="dcterms:W3CDTF">2026-08-17T16:14:51Z</dcterms:created>
  <dcterms:modified xsi:type="dcterms:W3CDTF">2026-08-17T16:14:51Z</dcterms:modified>
</cp:coreProperties>
</file>